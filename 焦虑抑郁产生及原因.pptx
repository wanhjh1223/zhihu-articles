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package/2006/relationships/metadata/core-properties" Target="docProps/core.xml"/>
  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zh-CN"/>
    </a:defPPr>
  </p:defaultTextStyle>
</p:presentation>
</file>

<file path=ppt/presProps.xml><?xml version="1.0" encoding="utf-8"?>
<p:presPr xmlns:a="http://schemas.openxmlformats.org/drawingml/2006/main" xmlns:r="http://schemas.openxmlformats.org/officeDocument/2006/relationships" xmlns:p="http://schemas.openxmlformats.org/presentationml/2006/main">
  <p:showPr loop="0" showAnimation="1" showNarration="1" useTimings="1">
    <p:presentMode>present</p:presentMode>
    <p:showScrlOpt>present</p:showScrlOpt>
  </p:showPr>
</p:pres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1">
    <p:restoredLeft sz="15620"/>
    <p:restoredTop sz="94660"/>
  </p:normalViewPr>
  <p:slideViewPr showOutlineIcons="1">
    <p:cSldViewPr snapToGrid="1" snapToObjects="1">
      <p:cViewPr varScale="1">
        <p:scale>
          <a:sx n="104" d="100"/>
          <a:sy n="104" d="100"/>
        </p:scale>
        <p:origin x="-120" y="-90"/>
      </p:cViewPr>
      <p:guideLst/>
    </p:cSldViewPr>
  </p:slideViewPr>
  <p:notesViewPr>
    <p:cSldViewPr>
      <p:cViewPr>
        <p:scale>
          <a:sx n="100" d="100"/>
          <a:sy n="100" d="100"/>
        </p:scale>
        <p:origin x="0" y="0"/>
      </p:cViewPr>
    </p:cSldViewPr>
  </p:notesViewPr>
  <p:gridSpacing cx="72000" cy="72000"/>
</p:viewPr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presProps" Target="presProps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slide" Target="slides/slide3.xml"/>
    <Relationship Id="rId5" Type="http://schemas.openxmlformats.org/officeDocument/2006/relationships/slide" Target="slides/slide4.xml"/>
    <Relationship Id="rId6" Type="http://schemas.openxmlformats.org/officeDocument/2006/relationships/slide" Target="slides/slide5.xml"/>
    <Relationship Id="rId7" Type="http://schemas.openxmlformats.org/officeDocument/2006/relationships/slide" Target="slides/slide6.xml"/>
    <Relationship Id="rId8" Type="http://schemas.openxmlformats.org/officeDocument/2006/relationships/slide" Target="slides/slide7.xml"/>
    <Relationship Id="rId9" Type="http://schemas.openxmlformats.org/officeDocument/2006/relationships/slide" Target="slides/slide8.xml"/>
    <Relationship Id="rId10" Type="http://schemas.openxmlformats.org/officeDocument/2006/relationships/slide" Target="slides/slide9.xml"/>
    <Relationship Id="rId11" Type="http://schemas.openxmlformats.org/officeDocument/2006/relationships/slide" Target="slides/slide10.xml"/>
    <Relationship Id="rId12" Type="http://schemas.openxmlformats.org/officeDocument/2006/relationships/slide" Target="slides/slide11.xml"/>
    <Relationship Id="rId13" Type="http://schemas.openxmlformats.org/officeDocument/2006/relationships/slide" Target="slides/slide12.xml"/>
    <Relationship Id="rId14" Type="http://schemas.openxmlformats.org/officeDocument/2006/relationships/viewProps" Target="viewProps.xml"/>
    <Relationship Id="rId15" Type="http://schemas.openxmlformats.org/officeDocument/2006/relationships/theme" Target="theme/theme1.xml"/>
    <Relationship Id="rId16" Type="http://schemas.openxmlformats.org/officeDocument/2006/relationships/tableStyles" Target="tableStyles.xml"/>
    <Relationship Id="rId17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/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焦虑抑郁的产生及原因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300000"/>
            <a:ext cx="8231800" cy="400000"/>
          </a:xfrm>
          <a:prstGeom prst="rect">
            <a:avLst/>
          </a:prstGeom>
        </p:spPr>
        <p:txBody>
          <a:bodyPr/>
          <a:lstStyle/>
          <a:p>
            <a:pPr>
              <a:defRPr sz="2400"/>
            </a:pPr>
            <a:r>
              <a:rPr lang="zh-CN" sz="2400"/>
              <a:t>心理学与神经科学视角下的病因分析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800000"/>
            <a:ext cx="8231800" cy="4800000"/>
          </a:xfrm>
          <a:prstGeom prst="rect">
            <a:avLst/>
          </a:prstGeom>
        </p:spPr>
        <p:txBody>
          <a:bodyPr/>
          <a:lstStyle/>
          <a:p>
            <a:r>
              <a:rPr lang="zh-CN" sz="1800"/>
              <a:t>含原生家庭因素深度解析 | 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什么是焦虑抑郁？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300000"/>
            <a:ext cx="8231800" cy="4800000"/>
          </a:xfrm>
          <a:prstGeom prst="rect">
            <a:avLst/>
          </a:prstGeom>
        </p:spPr>
        <p:txBody>
          <a:bodyPr/>
          <a:lstStyle/>
          <a:p>
            <a:pPr marL="360000" indent="-360000">
              <a:buChar char="•"/>
            </a:pPr>
            <a:r>
              <a:rPr lang="zh-CN" sz="1800"/>
              <a:t>焦虑：以紧张、担心的想法和血压升高等身体变化为特征的情绪</a:t>
            </a:r>
          </a:p>
          <a:p>
            <a:pPr marL="360000" indent="-360000">
              <a:buChar char="•"/>
            </a:pPr>
            <a:r>
              <a:rPr lang="zh-CN" sz="1800"/>
              <a:t>抑郁：情绪低落、兴趣缺失、消极观念，甚至伴有自杀倾向的精神状态</a:t>
            </a:r>
          </a:p>
          <a:p>
            <a:pPr marL="360000" indent="-360000">
              <a:buChar char="•"/>
            </a:pPr>
            <a:r>
              <a:rPr lang="zh-CN" sz="1800"/>
              <a:t>焦虑性抑郁：两者常结伴而来，约70%慢性焦虑患者会发展为抑郁症</a:t>
            </a:r>
          </a:p>
          <a:p>
            <a:r>
              <a:rPr lang="zh-CN" sz="1800"/>
              <a:t>流行病学数据：</a:t>
            </a:r>
          </a:p>
          <a:p>
            <a:pPr marL="360000" indent="-360000">
              <a:buChar char="•"/>
            </a:pPr>
            <a:r>
              <a:rPr lang="zh-CN" sz="1800"/>
              <a:t>全球约18%成年人患有焦虑症</a:t>
            </a:r>
          </a:p>
          <a:p>
            <a:pPr marL="360000" indent="-360000">
              <a:buChar char="•"/>
            </a:pPr>
            <a:r>
              <a:rPr lang="zh-CN" sz="1800"/>
              <a:t>全球约3.5亿抑郁症患者</a:t>
            </a:r>
          </a:p>
          <a:p>
            <a:pPr marL="360000" indent="-360000">
              <a:buChar char="•"/>
            </a:pPr>
            <a:r>
              <a:rPr lang="zh-CN" sz="1800"/>
              <a:t>脑相关疾病占所有疾病社会负担的28%</a:t>
            </a:r>
          </a:p>
          <a:p>
            <a:pPr marL="360000" indent="-360000">
              <a:buChar char="•"/>
            </a:pPr>
            <a:r>
              <a:rPr lang="zh-CN" sz="1800"/>
              <a:t>近2/3美国成年人经历过至少一次童年不良经历(ACE)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原生家庭：焦虑抑郁的温床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300000"/>
            <a:ext cx="8231800" cy="4800000"/>
          </a:xfrm>
          <a:prstGeom prst="rect">
            <a:avLst/>
          </a:prstGeom>
        </p:spPr>
        <p:txBody>
          <a:bodyPr/>
          <a:lstStyle/>
          <a:p>
            <a:r>
              <a:rPr lang="zh-CN" sz="1800"/>
              <a:t>童年创伤的长期影响：</a:t>
            </a:r>
          </a:p>
          <a:p>
            <a:pPr marL="360000" indent="-360000">
              <a:buChar char="•"/>
            </a:pPr>
            <a:r>
              <a:rPr lang="zh-CN" sz="1800"/>
              <a:t>童年创伤不会随时间消失，而是像湿水泥中的脚印一样长期存在</a:t>
            </a:r>
          </a:p>
          <a:p>
            <a:pPr marL="360000" indent="-360000">
              <a:buChar char="•"/>
            </a:pPr>
            <a:r>
              <a:rPr lang="zh-CN" sz="1800"/>
              <a:t>童年逆境占焦虑障碍人口可归因风险比例的32.4%</a:t>
            </a:r>
          </a:p>
          <a:p>
            <a:pPr marL="360000" indent="-360000">
              <a:buChar char="•"/>
            </a:pPr>
            <a:r>
              <a:rPr lang="zh-CN" sz="1800"/>
              <a:t>有过童年创伤的人患抑郁障碍的可能性是普通人的2倍</a:t>
            </a:r>
          </a:p>
          <a:p>
            <a:pPr marL="360000" indent="-360000">
              <a:buChar char="•"/>
            </a:pPr>
            <a:r>
              <a:rPr lang="zh-CN" sz="1800"/>
              <a:t>童年创伤可预测地解释了26.2%的情绪障碍</a:t>
            </a:r>
          </a:p>
          <a:p>
            <a:r>
              <a:rPr lang="zh-CN" sz="1800"/>
              <a:t>关键研究发现：</a:t>
            </a:r>
          </a:p>
          <a:p>
            <a:pPr marL="360000" indent="-360000">
              <a:buChar char="•"/>
            </a:pPr>
            <a:r>
              <a:rPr lang="zh-CN" sz="1800"/>
              <a:t>ACE研究：童年创伤与重度抑郁的发展存在强烈关联</a:t>
            </a:r>
          </a:p>
          <a:p>
            <a:pPr marL="360000" indent="-360000">
              <a:buChar char="•"/>
            </a:pPr>
            <a:r>
              <a:rPr lang="zh-CN" sz="1800"/>
              <a:t>剂量依赖关系：经历越多童年逆境，患病风险越高</a:t>
            </a:r>
          </a:p>
          <a:p>
            <a:pPr marL="360000" indent="-360000">
              <a:buChar char="•"/>
            </a:pPr>
            <a:r>
              <a:rPr lang="zh-CN" sz="1800"/>
              <a:t>约70%慢性焦虑患者会发展为抑郁症</a:t>
            </a:r>
          </a:p>
          <a:p>
            <a:pPr marL="360000" indent="-360000">
              <a:buChar char="•"/>
            </a:pPr>
            <a:r>
              <a:rPr lang="zh-CN" sz="1800"/>
              <a:t>情感忽视的影响往往比身体虐待更深远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原生家庭行为（一）：控制与压制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300000"/>
            <a:ext cx="8231800" cy="4800000"/>
          </a:xfrm>
          <a:prstGeom prst="rect">
            <a:avLst/>
          </a:prstGeom>
        </p:spPr>
        <p:txBody>
          <a:bodyPr/>
          <a:lstStyle/>
          <a:p>
            <a:r>
              <a:rPr lang="zh-CN" sz="1800"/>
              <a:t>专制型/独裁型父母行为：</a:t>
            </a:r>
          </a:p>
          <a:p>
            <a:pPr marL="360000" indent="-360000">
              <a:buChar char="•"/>
            </a:pPr>
            <a:r>
              <a:rPr lang="zh-CN" sz="1800"/>
              <a:t>高要求、低回应，强调服从与纪律</a:t>
            </a:r>
          </a:p>
          <a:p>
            <a:pPr marL="360000" indent="-360000">
              <a:buChar char="•"/>
            </a:pPr>
            <a:r>
              <a:rPr lang="zh-CN" sz="1800"/>
              <a:t>使用惩罚维持规范，而非沟通</a:t>
            </a:r>
          </a:p>
          <a:p>
            <a:pPr marL="360000" indent="-360000">
              <a:buChar char="•"/>
            </a:pPr>
            <a:r>
              <a:rPr lang="zh-CN" sz="1800"/>
              <a:t>很少关注孩子的意见和情感</a:t>
            </a:r>
          </a:p>
          <a:p>
            <a:pPr marL="360000" indent="-360000">
              <a:buChar char="•"/>
            </a:pPr>
            <a:r>
              <a:rPr lang="zh-CN" sz="1800"/>
              <a:t>孩子没有参与决策的权力</a:t>
            </a:r>
          </a:p>
          <a:p>
            <a:r>
              <a:rPr lang="zh-CN" sz="1800"/>
              <a:t>过度控制与过度保护：</a:t>
            </a:r>
          </a:p>
          <a:p>
            <a:pPr marL="360000" indent="-360000">
              <a:buChar char="•"/>
            </a:pPr>
            <a:r>
              <a:rPr lang="zh-CN" sz="1800"/>
              <a:t>限制孩子接触产生焦虑的情境</a:t>
            </a:r>
          </a:p>
          <a:p>
            <a:pPr marL="360000" indent="-360000">
              <a:buChar char="•"/>
            </a:pPr>
            <a:r>
              <a:rPr lang="zh-CN" sz="1800"/>
              <a:t>"直升机父母"：盘旋在孩子身上</a:t>
            </a:r>
          </a:p>
          <a:p>
            <a:pPr marL="360000" indent="-360000">
              <a:buChar char="•"/>
            </a:pPr>
            <a:r>
              <a:rPr lang="zh-CN" sz="1800"/>
              <a:t>侵入性养育：替孩子完成任务</a:t>
            </a:r>
          </a:p>
          <a:p>
            <a:pPr marL="360000" indent="-360000">
              <a:buChar char="•"/>
            </a:pPr>
            <a:r>
              <a:rPr lang="zh-CN" sz="1800"/>
              <a:t>导致孩子无法发展应对技能</a:t>
            </a:r>
          </a:p>
          <a:p>
            <a:r>
              <a:rPr lang="zh-CN" sz="1800"/>
              <a:t>造成的后果：</a:t>
            </a:r>
          </a:p>
          <a:p>
            <a:pPr marL="360000" indent="-360000">
              <a:buChar char="•"/>
            </a:pPr>
            <a:r>
              <a:rPr lang="zh-CN" sz="1800"/>
              <a:t>情绪焦虑、封闭自己、不快乐、自卑</a:t>
            </a:r>
          </a:p>
          <a:p>
            <a:pPr marL="360000" indent="-360000">
              <a:buChar char="•"/>
            </a:pPr>
            <a:r>
              <a:rPr lang="zh-CN" sz="1800"/>
              <a:t>缺乏社交技能，容易出现敌意和受挫感</a:t>
            </a:r>
          </a:p>
          <a:p>
            <a:pPr marL="360000" indent="-360000">
              <a:buChar char="•"/>
            </a:pPr>
            <a:r>
              <a:rPr lang="zh-CN" sz="1800"/>
              <a:t>男孩：充满愤怒，有反社会行为倾向</a:t>
            </a:r>
          </a:p>
          <a:p>
            <a:pPr marL="360000" indent="-360000">
              <a:buChar char="•"/>
            </a:pPr>
            <a:r>
              <a:rPr lang="zh-CN" sz="1800"/>
              <a:t>女孩：依赖性很强，缺乏探索和挑战动力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原生家庭行为（二）：情感忽视与拒绝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300000"/>
            <a:ext cx="8231800" cy="4800000"/>
          </a:xfrm>
          <a:prstGeom prst="rect">
            <a:avLst/>
          </a:prstGeom>
        </p:spPr>
        <p:txBody>
          <a:bodyPr/>
          <a:lstStyle/>
          <a:p>
            <a:r>
              <a:rPr lang="zh-CN" sz="1800"/>
              <a:t>情感忽视：</a:t>
            </a:r>
          </a:p>
          <a:p>
            <a:pPr marL="360000" indent="-360000">
              <a:buChar char="•"/>
            </a:pPr>
            <a:r>
              <a:rPr lang="zh-CN" sz="1800"/>
              <a:t>对孩子的需求和感受缺乏回应</a:t>
            </a:r>
          </a:p>
          <a:p>
            <a:pPr marL="360000" indent="-360000">
              <a:buChar char="•"/>
            </a:pPr>
            <a:r>
              <a:rPr lang="zh-CN" sz="1800"/>
              <a:t>情感冷漠，回避亲密关系</a:t>
            </a:r>
          </a:p>
          <a:p>
            <a:pPr marL="360000" indent="-360000">
              <a:buChar char="•"/>
            </a:pPr>
            <a:r>
              <a:rPr lang="zh-CN" sz="1800"/>
              <a:t>只关注物质需求，忽视情感需求</a:t>
            </a:r>
          </a:p>
          <a:p>
            <a:pPr marL="360000" indent="-360000">
              <a:buChar char="•"/>
            </a:pPr>
            <a:r>
              <a:rPr lang="zh-CN" sz="1800"/>
              <a:t>不表达爱、温暖和支持</a:t>
            </a:r>
          </a:p>
          <a:p>
            <a:r>
              <a:rPr lang="zh-CN" sz="1800"/>
              <a:t>情感虐待与拒绝：</a:t>
            </a:r>
          </a:p>
          <a:p>
            <a:pPr marL="360000" indent="-360000">
              <a:buChar char="•"/>
            </a:pPr>
            <a:r>
              <a:rPr lang="zh-CN" sz="1800"/>
              <a:t>过度批评、贬低、羞辱</a:t>
            </a:r>
          </a:p>
          <a:p>
            <a:pPr marL="360000" indent="-360000">
              <a:buChar char="•"/>
            </a:pPr>
            <a:r>
              <a:rPr lang="zh-CN" sz="1800"/>
              <a:t>"这不行、那不行"的否定教育</a:t>
            </a:r>
          </a:p>
          <a:p>
            <a:pPr marL="360000" indent="-360000">
              <a:buChar char="•"/>
            </a:pPr>
            <a:r>
              <a:rPr lang="zh-CN" sz="1800"/>
              <a:t>做错事不给饭吃或打骂</a:t>
            </a:r>
          </a:p>
          <a:p>
            <a:pPr marL="360000" indent="-360000">
              <a:buChar char="•"/>
            </a:pPr>
            <a:r>
              <a:rPr lang="zh-CN" sz="1800"/>
              <a:t>让孩子觉得"我不值得被爱"</a:t>
            </a:r>
          </a:p>
          <a:p>
            <a:r>
              <a:rPr lang="zh-CN" sz="1800"/>
              <a:t>造成的后果：</a:t>
            </a:r>
          </a:p>
          <a:p>
            <a:pPr marL="360000" indent="-360000">
              <a:buChar char="•"/>
            </a:pPr>
            <a:r>
              <a:rPr lang="zh-CN" sz="1800"/>
              <a:t>形成"我不够好""我不配被爱"的核心信念</a:t>
            </a:r>
          </a:p>
          <a:p>
            <a:pPr marL="360000" indent="-360000">
              <a:buChar char="•"/>
            </a:pPr>
            <a:r>
              <a:rPr lang="zh-CN" sz="1800"/>
              <a:t>低自尊、自我价值感低下</a:t>
            </a:r>
          </a:p>
          <a:p>
            <a:pPr marL="360000" indent="-360000">
              <a:buChar char="•"/>
            </a:pPr>
            <a:r>
              <a:rPr lang="zh-CN" sz="1800"/>
              <a:t>社交恐惧，害怕被拒绝和嘲笑</a:t>
            </a:r>
          </a:p>
          <a:p>
            <a:pPr marL="360000" indent="-360000">
              <a:buChar char="•"/>
            </a:pPr>
            <a:r>
              <a:rPr lang="zh-CN" sz="1800"/>
              <a:t>不敢表达真实情绪，习惯性讨好他人</a:t>
            </a:r>
          </a:p>
          <a:p>
            <a:pPr marL="360000" indent="-360000">
              <a:buChar char="•"/>
            </a:pPr>
            <a:r>
              <a:rPr lang="zh-CN" sz="1800"/>
              <a:t>成年后难以建立健康亲密关系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原生家庭行为（三）：示范与强化回避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300000"/>
            <a:ext cx="8231800" cy="4800000"/>
          </a:xfrm>
          <a:prstGeom prst="rect">
            <a:avLst/>
          </a:prstGeom>
        </p:spPr>
        <p:txBody>
          <a:bodyPr/>
          <a:lstStyle/>
          <a:p>
            <a:r>
              <a:rPr lang="zh-CN" sz="1800"/>
              <a:t>父母的焦虑示范：</a:t>
            </a:r>
          </a:p>
          <a:p>
            <a:pPr marL="360000" indent="-360000">
              <a:buChar char="•"/>
            </a:pPr>
            <a:r>
              <a:rPr lang="zh-CN" sz="1800"/>
              <a:t>孩子通过观察学习父母如何应对世界</a:t>
            </a:r>
          </a:p>
          <a:p>
            <a:pPr marL="360000" indent="-360000">
              <a:buChar char="•"/>
            </a:pPr>
            <a:r>
              <a:rPr lang="zh-CN" sz="1800"/>
              <a:t>焦虑父母的控制行为被孩子模仿</a:t>
            </a:r>
          </a:p>
          <a:p>
            <a:pPr marL="360000" indent="-360000">
              <a:buChar char="•"/>
            </a:pPr>
            <a:r>
              <a:rPr lang="zh-CN" sz="1800"/>
              <a:t>父母表现出对社交的恐惧和回避</a:t>
            </a:r>
          </a:p>
          <a:p>
            <a:pPr marL="360000" indent="-360000">
              <a:buChar char="•"/>
            </a:pPr>
            <a:r>
              <a:rPr lang="zh-CN" sz="1800"/>
              <a:t>传递"世界是危险的"信号</a:t>
            </a:r>
          </a:p>
          <a:p>
            <a:r>
              <a:rPr lang="zh-CN" sz="1800"/>
              <a:t>强化孩子的回避行为：</a:t>
            </a:r>
          </a:p>
          <a:p>
            <a:pPr marL="360000" indent="-360000">
              <a:buChar char="•"/>
            </a:pPr>
            <a:r>
              <a:rPr lang="zh-CN" sz="1800"/>
              <a:t>替害怕社交的孩子点餐、与店员交谈</a:t>
            </a:r>
          </a:p>
          <a:p>
            <a:pPr marL="360000" indent="-360000">
              <a:buChar char="•"/>
            </a:pPr>
            <a:r>
              <a:rPr lang="zh-CN" sz="1800"/>
              <a:t>孩子不愿上学时允许其待在家里</a:t>
            </a:r>
          </a:p>
          <a:p>
            <a:pPr marL="360000" indent="-360000">
              <a:buChar char="•"/>
            </a:pPr>
            <a:r>
              <a:rPr lang="zh-CN" sz="1800"/>
              <a:t>避免让孩子面对任何可能引起焦虑的情境</a:t>
            </a:r>
          </a:p>
          <a:p>
            <a:pPr marL="360000" indent="-360000">
              <a:buChar char="•"/>
            </a:pPr>
            <a:r>
              <a:rPr lang="zh-CN" sz="1800"/>
              <a:t>用"一切都会好的"过度安慰而不面对问题</a:t>
            </a:r>
          </a:p>
          <a:p>
            <a:r>
              <a:rPr lang="zh-CN" sz="1800"/>
              <a:t>造成的后果：</a:t>
            </a:r>
          </a:p>
          <a:p>
            <a:pPr marL="360000" indent="-360000">
              <a:buChar char="•"/>
            </a:pPr>
            <a:r>
              <a:rPr lang="zh-CN" sz="1800"/>
              <a:t>孩子学会逃避是解决问题的方法</a:t>
            </a:r>
          </a:p>
          <a:p>
            <a:pPr marL="360000" indent="-360000">
              <a:buChar char="•"/>
            </a:pPr>
            <a:r>
              <a:rPr lang="zh-CN" sz="1800"/>
              <a:t>回避行为被自我强化，形成恶性循环</a:t>
            </a:r>
          </a:p>
          <a:p>
            <a:pPr marL="360000" indent="-360000">
              <a:buChar char="•"/>
            </a:pPr>
            <a:r>
              <a:rPr lang="zh-CN" sz="1800"/>
              <a:t>社交技能发展不足</a:t>
            </a:r>
          </a:p>
          <a:p>
            <a:pPr marL="360000" indent="-360000">
              <a:buChar char="•"/>
            </a:pPr>
            <a:r>
              <a:rPr lang="zh-CN" sz="1800"/>
              <a:t>面对新情境时不知所措，产生恐惧</a:t>
            </a:r>
          </a:p>
          <a:p>
            <a:pPr marL="360000" indent="-360000">
              <a:buChar char="•"/>
            </a:pPr>
            <a:r>
              <a:rPr lang="zh-CN" sz="1800"/>
              <a:t>不敢走出家门，不敢尝试新事物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原生家庭行为（四）：创伤性经历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300000"/>
            <a:ext cx="8231800" cy="4800000"/>
          </a:xfrm>
          <a:prstGeom prst="rect">
            <a:avLst/>
          </a:prstGeom>
        </p:spPr>
        <p:txBody>
          <a:bodyPr/>
          <a:lstStyle/>
          <a:p>
            <a:r>
              <a:rPr lang="zh-CN" sz="1800"/>
              <a:t>虐待与暴力：</a:t>
            </a:r>
          </a:p>
          <a:p>
            <a:pPr marL="360000" indent="-360000">
              <a:buChar char="•"/>
            </a:pPr>
            <a:r>
              <a:rPr lang="zh-CN" sz="1800"/>
              <a:t>身体虐待：打骂、体罚</a:t>
            </a:r>
          </a:p>
          <a:p>
            <a:pPr marL="360000" indent="-360000">
              <a:buChar char="•"/>
            </a:pPr>
            <a:r>
              <a:rPr lang="zh-CN" sz="1800"/>
              <a:t>性虐待：任何形式的性侵害</a:t>
            </a:r>
          </a:p>
          <a:p>
            <a:pPr marL="360000" indent="-360000">
              <a:buChar char="•"/>
            </a:pPr>
            <a:r>
              <a:rPr lang="zh-CN" sz="1800"/>
              <a:t>家庭暴力：目睹父母冲突或打架</a:t>
            </a:r>
          </a:p>
          <a:p>
            <a:pPr marL="360000" indent="-360000">
              <a:buChar char="•"/>
            </a:pPr>
            <a:r>
              <a:rPr lang="zh-CN" sz="1800"/>
              <a:t>遭受欺凌、嘲笑、被取笑</a:t>
            </a:r>
          </a:p>
          <a:p>
            <a:r>
              <a:rPr lang="zh-CN" sz="1800"/>
              <a:t>家庭环境的不稳定：</a:t>
            </a:r>
          </a:p>
          <a:p>
            <a:pPr marL="360000" indent="-360000">
              <a:buChar char="•"/>
            </a:pPr>
            <a:r>
              <a:rPr lang="zh-CN" sz="1800"/>
              <a:t>父母离异或分居</a:t>
            </a:r>
          </a:p>
          <a:p>
            <a:pPr marL="360000" indent="-360000">
              <a:buChar char="•"/>
            </a:pPr>
            <a:r>
              <a:rPr lang="zh-CN" sz="1800"/>
              <a:t>亲人离世</a:t>
            </a:r>
          </a:p>
          <a:p>
            <a:pPr marL="360000" indent="-360000">
              <a:buChar char="•"/>
            </a:pPr>
            <a:r>
              <a:rPr lang="zh-CN" sz="1800"/>
              <a:t>频繁搬家、转学</a:t>
            </a:r>
          </a:p>
          <a:p>
            <a:pPr marL="360000" indent="-360000">
              <a:buChar char="•"/>
            </a:pPr>
            <a:r>
              <a:rPr lang="zh-CN" sz="1800"/>
              <a:t>经济困难、家庭破产</a:t>
            </a:r>
          </a:p>
          <a:p>
            <a:pPr marL="360000" indent="-360000">
              <a:buChar char="•"/>
            </a:pPr>
            <a:r>
              <a:rPr lang="zh-CN" sz="1800"/>
              <a:t>父母长期争吵、冷战</a:t>
            </a:r>
          </a:p>
          <a:p>
            <a:r>
              <a:rPr lang="zh-CN" sz="1800"/>
              <a:t>依恋创伤：</a:t>
            </a:r>
          </a:p>
          <a:p>
            <a:pPr marL="360000" indent="-360000">
              <a:buChar char="•"/>
            </a:pPr>
            <a:r>
              <a:rPr lang="zh-CN" sz="1800"/>
              <a:t>早期与主要照顾者分离</a:t>
            </a:r>
          </a:p>
          <a:p>
            <a:pPr marL="360000" indent="-360000">
              <a:buChar char="•"/>
            </a:pPr>
            <a:r>
              <a:rPr lang="zh-CN" sz="1800"/>
              <a:t>照顾者不可预测、时而热情时而冷漠</a:t>
            </a:r>
          </a:p>
          <a:p>
            <a:pPr marL="360000" indent="-360000">
              <a:buChar char="•"/>
            </a:pPr>
            <a:r>
              <a:rPr lang="zh-CN" sz="1800"/>
              <a:t>形成不安全依恋模式</a:t>
            </a:r>
          </a:p>
          <a:p>
            <a:r>
              <a:rPr lang="zh-CN" sz="1800"/>
              <a:t>造成的后果：</a:t>
            </a:r>
          </a:p>
          <a:p>
            <a:pPr marL="360000" indent="-360000">
              <a:buChar char="•"/>
            </a:pPr>
            <a:r>
              <a:rPr lang="zh-CN" sz="1800"/>
              <a:t>创伤后应激障碍(PTSD)</a:t>
            </a:r>
          </a:p>
          <a:p>
            <a:pPr marL="360000" indent="-360000">
              <a:buChar char="•"/>
            </a:pPr>
            <a:r>
              <a:rPr lang="zh-CN" sz="1800"/>
              <a:t>对人际关系缺乏基本信任</a:t>
            </a:r>
          </a:p>
          <a:p>
            <a:pPr marL="360000" indent="-360000">
              <a:buChar char="•"/>
            </a:pPr>
            <a:r>
              <a:rPr lang="zh-CN" sz="1800"/>
              <a:t>恐惧被抛弃或恐惧被控制</a:t>
            </a:r>
          </a:p>
          <a:p>
            <a:pPr marL="360000" indent="-360000">
              <a:buChar char="•"/>
            </a:pPr>
            <a:r>
              <a:rPr lang="zh-CN" sz="1800"/>
              <a:t>高度警觉(hypervigilance)：总是"察言观色"</a:t>
            </a:r>
          </a:p>
          <a:p>
            <a:pPr marL="360000" indent="-360000">
              <a:buChar char="•"/>
            </a:pPr>
            <a:r>
              <a:rPr lang="zh-CN" sz="1800"/>
              <a:t>成年后更容易患抑郁和焦虑障碍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生物学因素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300000"/>
            <a:ext cx="8231800" cy="4800000"/>
          </a:xfrm>
          <a:prstGeom prst="rect">
            <a:avLst/>
          </a:prstGeom>
        </p:spPr>
        <p:txBody>
          <a:bodyPr/>
          <a:lstStyle/>
          <a:p>
            <a:pPr marL="360000" indent="-360000">
              <a:buChar char="•"/>
            </a:pPr>
            <a:r>
              <a:rPr lang="zh-CN" sz="1800"/>
              <a:t>1. 遗传因素</a:t>
            </a:r>
          </a:p>
          <a:p>
            <a:r>
              <a:rPr lang="zh-CN" sz="1800"/>
              <a:t>   • 焦虑症具有一定的家族聚集性</a:t>
            </a:r>
          </a:p>
          <a:p>
            <a:r>
              <a:rPr lang="zh-CN" sz="1800"/>
              <a:t>   • 特定基因变异（如5-HTTLPR基因）影响大脑应激反应</a:t>
            </a:r>
          </a:p>
          <a:p>
            <a:pPr marL="360000" indent="-360000">
              <a:buChar char="•"/>
            </a:pPr>
            <a:r>
              <a:rPr lang="zh-CN" sz="1800"/>
              <a:t>2. 脑结构异常</a:t>
            </a:r>
          </a:p>
          <a:p>
            <a:r>
              <a:rPr lang="zh-CN" sz="1800"/>
              <a:t>   • 杏仁核：过度活跃，对威胁过度反应</a:t>
            </a:r>
          </a:p>
          <a:p>
            <a:r>
              <a:rPr lang="zh-CN" sz="1800"/>
              <a:t>   • 前额叶皮层：功能不足，调节能力减弱</a:t>
            </a:r>
          </a:p>
          <a:p>
            <a:r>
              <a:rPr lang="zh-CN" sz="1800"/>
              <a:t>   • 海马体：长期压力导致体积缩小</a:t>
            </a:r>
          </a:p>
          <a:p>
            <a:pPr marL="360000" indent="-360000">
              <a:buChar char="•"/>
            </a:pPr>
            <a:r>
              <a:rPr lang="zh-CN" sz="1800"/>
              <a:t>3. 神经递质失衡</a:t>
            </a:r>
          </a:p>
          <a:p>
            <a:r>
              <a:rPr lang="zh-CN" sz="1800"/>
              <a:t>   • 5-羟色胺水平低下</a:t>
            </a:r>
          </a:p>
          <a:p>
            <a:r>
              <a:rPr lang="zh-CN" sz="1800"/>
              <a:t>   • GABA（刹车机制）功能减弱</a:t>
            </a:r>
          </a:p>
          <a:p>
            <a:r>
              <a:rPr lang="zh-CN" sz="1800"/>
              <a:t>   • 去甲肾上腺素失调</a:t>
            </a:r>
          </a:p>
          <a:p>
            <a:pPr marL="360000" indent="-360000">
              <a:buChar char="•"/>
            </a:pPr>
            <a:r>
              <a:rPr lang="zh-CN" sz="1800"/>
              <a:t>4. HPA轴失调</a:t>
            </a:r>
          </a:p>
          <a:p>
            <a:r>
              <a:rPr lang="zh-CN" sz="1800"/>
              <a:t>   • 皮质醇持续升高</a:t>
            </a:r>
          </a:p>
          <a:p>
            <a:r>
              <a:rPr lang="zh-CN" sz="1800"/>
              <a:t>   • 负反馈机制失灵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心理因素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300000"/>
            <a:ext cx="8231800" cy="4800000"/>
          </a:xfrm>
          <a:prstGeom prst="rect">
            <a:avLst/>
          </a:prstGeom>
        </p:spPr>
        <p:txBody>
          <a:bodyPr/>
          <a:lstStyle/>
          <a:p>
            <a:r>
              <a:rPr lang="zh-CN" sz="1800"/>
              <a:t>认知模式问题：</a:t>
            </a:r>
          </a:p>
          <a:p>
            <a:pPr marL="360000" indent="-360000">
              <a:buChar char="•"/>
            </a:pPr>
            <a:r>
              <a:rPr lang="zh-CN" sz="1800"/>
              <a:t>灾难化思维：将小事放大为威胁</a:t>
            </a:r>
          </a:p>
          <a:p>
            <a:pPr marL="360000" indent="-360000">
              <a:buChar char="•"/>
            </a:pPr>
            <a:r>
              <a:rPr lang="zh-CN" sz="1800"/>
              <a:t>负面思维循环：过度关注威胁信号</a:t>
            </a:r>
          </a:p>
          <a:p>
            <a:pPr marL="360000" indent="-360000">
              <a:buChar char="•"/>
            </a:pPr>
            <a:r>
              <a:rPr lang="zh-CN" sz="1800"/>
              <a:t>完美主义：对不确定性容忍度低</a:t>
            </a:r>
          </a:p>
          <a:p>
            <a:pPr marL="360000" indent="-360000">
              <a:buChar char="•"/>
            </a:pPr>
            <a:r>
              <a:rPr lang="zh-CN" sz="1800"/>
              <a:t>"我不够好"的核心自我认知</a:t>
            </a:r>
          </a:p>
          <a:p>
            <a:r>
              <a:rPr lang="zh-CN" sz="1800"/>
              <a:t>性格特质：</a:t>
            </a:r>
          </a:p>
          <a:p>
            <a:pPr marL="360000" indent="-360000">
              <a:buChar char="•"/>
            </a:pPr>
            <a:r>
              <a:rPr lang="zh-CN" sz="1800"/>
              <a:t>高度敏感、易受伤</a:t>
            </a:r>
          </a:p>
          <a:p>
            <a:pPr marL="360000" indent="-360000">
              <a:buChar char="•"/>
            </a:pPr>
            <a:r>
              <a:rPr lang="zh-CN" sz="1800"/>
              <a:t>缺乏自信心</a:t>
            </a:r>
          </a:p>
          <a:p>
            <a:pPr marL="360000" indent="-360000">
              <a:buChar char="•"/>
            </a:pPr>
            <a:r>
              <a:rPr lang="zh-CN" sz="1800"/>
              <a:t>悲观倾向</a:t>
            </a:r>
          </a:p>
          <a:p>
            <a:pPr marL="360000" indent="-360000">
              <a:buChar char="•"/>
            </a:pPr>
            <a:r>
              <a:rPr lang="zh-CN" sz="1800"/>
              <a:t>回避行为模式</a:t>
            </a:r>
          </a:p>
          <a:p>
            <a:r>
              <a:rPr lang="zh-CN" sz="1800"/>
              <a:t>心理动力学因素：</a:t>
            </a:r>
          </a:p>
          <a:p>
            <a:pPr marL="360000" indent="-360000">
              <a:buChar char="•"/>
            </a:pPr>
            <a:r>
              <a:rPr lang="zh-CN" sz="1800"/>
              <a:t>潜意识中的冲突和压抑</a:t>
            </a:r>
          </a:p>
          <a:p>
            <a:pPr marL="360000" indent="-360000">
              <a:buChar char="•"/>
            </a:pPr>
            <a:r>
              <a:rPr lang="zh-CN" sz="1800"/>
              <a:t>早期未满足的需求</a:t>
            </a:r>
          </a:p>
          <a:p>
            <a:pPr marL="360000" indent="-360000">
              <a:buChar char="•"/>
            </a:pPr>
            <a:r>
              <a:rPr lang="zh-CN" sz="1800"/>
              <a:t>内化的严苛父母声音</a:t>
            </a:r>
          </a:p>
          <a:p>
            <a:pPr marL="360000" indent="-360000">
              <a:buChar char="•"/>
            </a:pPr>
            <a:r>
              <a:rPr lang="zh-CN" sz="1800"/>
              <a:t>恐惧型依恋模式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大脑神经机制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300000"/>
            <a:ext cx="8231800" cy="4800000"/>
          </a:xfrm>
          <a:prstGeom prst="rect">
            <a:avLst/>
          </a:prstGeom>
        </p:spPr>
        <p:txBody>
          <a:bodyPr/>
          <a:lstStyle/>
          <a:p>
            <a:r>
              <a:rPr lang="zh-CN" sz="1800"/>
              <a:t>神经回路失调：</a:t>
            </a:r>
          </a:p>
          <a:p>
            <a:pPr marL="360000" indent="-360000">
              <a:buChar char="•"/>
            </a:pPr>
            <a:r>
              <a:rPr lang="zh-CN" sz="1800"/>
              <a:t>杏仁核-前额叶环路连接减弱</a:t>
            </a:r>
          </a:p>
          <a:p>
            <a:pPr marL="360000" indent="-360000">
              <a:buChar char="•"/>
            </a:pPr>
            <a:r>
              <a:rPr lang="zh-CN" sz="1800"/>
              <a:t>慢性压力改变信号传导</a:t>
            </a:r>
          </a:p>
          <a:p>
            <a:r>
              <a:rPr lang="zh-CN" sz="1800"/>
              <a:t>神经可塑性改变：</a:t>
            </a:r>
          </a:p>
          <a:p>
            <a:pPr marL="360000" indent="-360000">
              <a:buChar char="•"/>
            </a:pPr>
            <a:r>
              <a:rPr lang="zh-CN" sz="1800"/>
              <a:t>海马体：新生神经元减少，体积缩小</a:t>
            </a:r>
          </a:p>
          <a:p>
            <a:pPr marL="360000" indent="-360000">
              <a:buChar char="•"/>
            </a:pPr>
            <a:r>
              <a:rPr lang="zh-CN" sz="1800"/>
              <a:t>前额叶皮层：执行功能下降</a:t>
            </a:r>
          </a:p>
          <a:p>
            <a:pPr marL="360000" indent="-360000">
              <a:buChar char="•"/>
            </a:pPr>
            <a:r>
              <a:rPr lang="zh-CN" sz="1800"/>
              <a:t>杏仁核：反应性增强</a:t>
            </a:r>
          </a:p>
          <a:p>
            <a:r>
              <a:rPr lang="zh-CN" sz="1800"/>
              <a:t>神经炎症：</a:t>
            </a:r>
          </a:p>
          <a:p>
            <a:pPr marL="360000" indent="-360000">
              <a:buChar char="•"/>
            </a:pPr>
            <a:r>
              <a:rPr lang="zh-CN" sz="1800"/>
              <a:t>促炎细胞因子升高</a:t>
            </a:r>
          </a:p>
          <a:p>
            <a:pPr marL="360000" indent="-360000">
              <a:buChar char="•"/>
            </a:pPr>
            <a:r>
              <a:rPr lang="zh-CN" sz="1800"/>
              <a:t>小胶质细胞活化</a:t>
            </a:r>
          </a:p>
          <a:p>
            <a:r>
              <a:rPr lang="zh-CN" sz="1800"/>
              <a:t>分子机制：</a:t>
            </a:r>
          </a:p>
          <a:p>
            <a:pPr marL="360000" indent="-360000">
              <a:buChar char="•"/>
            </a:pPr>
            <a:r>
              <a:rPr lang="zh-CN" sz="1800"/>
              <a:t>SIRT1基因表达下调</a:t>
            </a:r>
          </a:p>
          <a:p>
            <a:pPr marL="360000" indent="-360000">
              <a:buChar char="•"/>
            </a:pPr>
            <a:r>
              <a:rPr lang="zh-CN" sz="1800"/>
              <a:t>CRF（促肾上腺皮质激素释放因子）上调</a:t>
            </a:r>
          </a:p>
          <a:p>
            <a:pPr marL="360000" indent="-360000">
              <a:buChar char="•"/>
            </a:pPr>
            <a:r>
              <a:rPr lang="zh-CN" sz="1800"/>
              <a:t>肝-脑轴：肝脏LCN2释放增加</a:t>
            </a:r>
          </a:p>
          <a:p>
            <a:r>
              <a:rPr lang="zh-CN" sz="1800"/>
              <a:t>The Body Keeps the Score：</a:t>
            </a:r>
          </a:p>
          <a:p>
            <a:r>
              <a:rPr lang="zh-CN" sz="1800"/>
              <a:t>创伤不仅存储在记忆中，还生物性嵌入身体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病因总结：多因素交互模型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300000"/>
            <a:ext cx="8231800" cy="4800000"/>
          </a:xfrm>
          <a:prstGeom prst="rect">
            <a:avLst/>
          </a:prstGeom>
        </p:spPr>
        <p:txBody>
          <a:bodyPr/>
          <a:lstStyle/>
          <a:p>
            <a:r>
              <a:rPr lang="zh-CN" sz="1800"/>
              <a:t>        原生家庭因素</a:t>
            </a:r>
          </a:p>
          <a:p>
            <a:r>
              <a:rPr lang="zh-CN" sz="1800"/>
              <a:t>    （童年创伤、养育方式）</a:t>
            </a:r>
          </a:p>
          <a:p>
            <a:r>
              <a:rPr lang="zh-CN" sz="1800"/>
              <a:t>              ↓</a:t>
            </a:r>
          </a:p>
          <a:p>
            <a:r>
              <a:rPr lang="zh-CN" sz="1800"/>
              <a:t>    ┌─────────┼─────────┐</a:t>
            </a:r>
          </a:p>
          <a:p>
            <a:r>
              <a:rPr lang="zh-CN" sz="1800"/>
              <a:t>    ↓         ↓         ↓</a:t>
            </a:r>
          </a:p>
          <a:p>
            <a:r>
              <a:rPr lang="zh-CN" sz="1800"/>
              <a:t>生物学因素  心理因素   社会环境因素</a:t>
            </a:r>
          </a:p>
          <a:p>
            <a:r>
              <a:rPr lang="zh-CN" sz="1800"/>
              <a:t>（遗传易感性）（认知模式）（生活压力）</a:t>
            </a:r>
          </a:p>
          <a:p>
            <a:r>
              <a:rPr lang="zh-CN" sz="1800"/>
              <a:t>    │         │         │</a:t>
            </a:r>
          </a:p>
          <a:p>
            <a:r>
              <a:rPr lang="zh-CN" sz="1800"/>
              <a:t>    └─────────┼─────────┘</a:t>
            </a:r>
          </a:p>
          <a:p>
            <a:r>
              <a:rPr lang="zh-CN" sz="1800"/>
              <a:t>              ↓</a:t>
            </a:r>
          </a:p>
          <a:p>
            <a:r>
              <a:rPr lang="zh-CN" sz="1800"/>
              <a:t>    大脑神经回路失调 + 神经炎症</a:t>
            </a:r>
          </a:p>
          <a:p>
            <a:r>
              <a:rPr lang="zh-CN" sz="1800"/>
              <a:t>              ↓</a:t>
            </a:r>
          </a:p>
          <a:p>
            <a:r>
              <a:rPr lang="zh-CN" sz="1800"/>
              <a:t>         焦虑抑郁症状</a:t>
            </a:r>
          </a:p>
          <a:p>
            <a:r>
              <a:rPr lang="zh-CN" sz="1800"/>
              <a:t>              ↓</a:t>
            </a:r>
          </a:p>
          <a:p>
            <a:r>
              <a:rPr lang="zh-CN" sz="1800"/>
              <a:t>    ┌─────────┴─────────┐</a:t>
            </a:r>
          </a:p>
          <a:p>
            <a:r>
              <a:rPr lang="zh-CN" sz="1800"/>
              <a:t>    ↓                   ↓</a:t>
            </a:r>
          </a:p>
          <a:p>
            <a:r>
              <a:rPr lang="zh-CN" sz="1800"/>
              <a:t>害怕出门/回避社交    不敢尝试新事物</a:t>
            </a:r>
          </a:p>
          <a:p>
            <a:r>
              <a:rPr lang="zh-CN" sz="1800"/>
              <a:t>（场所恐惧症）       （习得性无助）</a:t>
            </a:r>
          </a:p>
          <a:p>
            <a:r>
              <a:rPr lang="zh-CN" sz="1800"/>
              <a:t>童年创伤通过影响认知风格、人格特质，</a:t>
            </a:r>
          </a:p>
          <a:p>
            <a:r>
              <a:rPr lang="zh-CN" sz="1800"/>
              <a:t>最终影响成年期精神病理学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31800" cy="800000"/>
          </a:xfrm>
          <a:prstGeom prst="rect">
            <a:avLst/>
          </a:prstGeom>
        </p:spPr>
        <p:txBody>
          <a:bodyPr/>
          <a:lstStyle/>
          <a:p>
            <a:pPr>
              <a:defRPr sz="4000" b="1"/>
            </a:pPr>
            <a:r>
              <a:rPr lang="zh-CN" sz="4000" b="1"/>
              <a:t>应对与预防建议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457200" y="1300000"/>
            <a:ext cx="8231800" cy="4800000"/>
          </a:xfrm>
          <a:prstGeom prst="rect">
            <a:avLst/>
          </a:prstGeom>
        </p:spPr>
        <p:txBody>
          <a:bodyPr/>
          <a:lstStyle/>
          <a:p>
            <a:r>
              <a:rPr lang="zh-CN" sz="1800"/>
              <a:t>觉察创伤：</a:t>
            </a:r>
          </a:p>
          <a:p>
            <a:pPr marL="360000" indent="-360000">
              <a:buChar char="•"/>
            </a:pPr>
            <a:r>
              <a:rPr lang="zh-CN" sz="1800"/>
              <a:t>识别症状背后的童年根源</a:t>
            </a:r>
          </a:p>
          <a:p>
            <a:pPr marL="360000" indent="-360000">
              <a:buChar char="•"/>
            </a:pPr>
            <a:r>
              <a:rPr lang="zh-CN" sz="1800"/>
              <a:t>理解"现在的恐惧来自过去的经历"</a:t>
            </a:r>
          </a:p>
          <a:p>
            <a:pPr marL="360000" indent="-360000">
              <a:buChar char="•"/>
            </a:pPr>
            <a:r>
              <a:rPr lang="zh-CN" sz="1800"/>
              <a:t>在关系中治愈：建立新的安全依恋</a:t>
            </a:r>
          </a:p>
          <a:p>
            <a:r>
              <a:rPr lang="zh-CN" sz="1800"/>
              <a:t>认知重构：</a:t>
            </a:r>
          </a:p>
          <a:p>
            <a:pPr marL="360000" indent="-360000">
              <a:buChar char="•"/>
            </a:pPr>
            <a:r>
              <a:rPr lang="zh-CN" sz="1800"/>
              <a:t>识别"我不够好"等不合理信念</a:t>
            </a:r>
          </a:p>
          <a:p>
            <a:pPr marL="360000" indent="-360000">
              <a:buChar char="•"/>
            </a:pPr>
            <a:r>
              <a:rPr lang="zh-CN" sz="1800"/>
              <a:t>用积极思维替代灾难化思维</a:t>
            </a:r>
          </a:p>
          <a:p>
            <a:pPr marL="360000" indent="-360000">
              <a:buChar char="•"/>
            </a:pPr>
            <a:r>
              <a:rPr lang="zh-CN" sz="1800"/>
              <a:t>接受"父母不完美，但我可以不同"</a:t>
            </a:r>
          </a:p>
          <a:p>
            <a:r>
              <a:rPr lang="zh-CN" sz="1800"/>
              <a:t>逐步暴露：</a:t>
            </a:r>
          </a:p>
          <a:p>
            <a:pPr marL="360000" indent="-360000">
              <a:buChar char="•"/>
            </a:pPr>
            <a:r>
              <a:rPr lang="zh-CN" sz="1800"/>
              <a:t>从小步骤开始面对恐惧</a:t>
            </a:r>
          </a:p>
          <a:p>
            <a:pPr marL="360000" indent="-360000">
              <a:buChar char="•"/>
            </a:pPr>
            <a:r>
              <a:rPr lang="zh-CN" sz="1800"/>
              <a:t>庆祝每一个小胜利</a:t>
            </a:r>
          </a:p>
          <a:p>
            <a:pPr marL="360000" indent="-360000">
              <a:buChar char="•"/>
            </a:pPr>
            <a:r>
              <a:rPr lang="zh-CN" sz="1800"/>
              <a:t>建立"我可以应对"的信心</a:t>
            </a:r>
          </a:p>
          <a:p>
            <a:r>
              <a:rPr lang="zh-CN" sz="1800"/>
              <a:t>专业帮助：</a:t>
            </a:r>
          </a:p>
          <a:p>
            <a:pPr marL="360000" indent="-360000">
              <a:buChar char="•"/>
            </a:pPr>
            <a:r>
              <a:rPr lang="zh-CN" sz="1800"/>
              <a:t>创伤知情治疗（EMDR、躯体体验疗法）</a:t>
            </a:r>
          </a:p>
          <a:p>
            <a:pPr marL="360000" indent="-360000">
              <a:buChar char="•"/>
            </a:pPr>
            <a:r>
              <a:rPr lang="zh-CN" sz="1800"/>
              <a:t>认知行为疗法（CBT）</a:t>
            </a:r>
          </a:p>
          <a:p>
            <a:pPr marL="360000" indent="-360000">
              <a:buChar char="•"/>
            </a:pPr>
            <a:r>
              <a:rPr lang="zh-CN" sz="1800"/>
              <a:t>必要时药物治疗</a:t>
            </a:r>
          </a:p>
          <a:p>
            <a:r>
              <a:rPr lang="zh-CN" sz="1800"/>
              <a:t>重要提醒：治愈是可能的！</a:t>
            </a:r>
          </a:p>
          <a:p>
            <a:r>
              <a:rPr lang="zh-CN" sz="1800"/>
              <a:t>理解根源是改变的第一步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
<Relationships xmlns="http://schemas.openxmlformats.org/package/2006/relationships"/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微软雅黑"/>
      </a:majorFont>
      <a:minorFont>
        <a:latin typeface="Calibri"/>
        <a:ea typeface="微软雅黑"/>
      </a:minorFont>
    </a:fontScheme>
    <a:fmtScheme name="Office">
      <a:fillStyleLst>
        <a:solidFill>
          <a:schemeClr val="phClr"/>
        </a:solidFill>
      </a:fillStyleLst>
      <a:lnStyleLst>
        <a:ln w="9525" cap="flat" cmpd="sng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emplate/>
  <TotalTime>0</TotalTime>
  <Pages>12</Pages>
  <Words>800</Words>
  <Characters>5000</Characters>
  <Application>Microsoft Office PowerPoint</Application>
  <DocSecurity>0</DocSecurity>
  <Lines>80</Lines>
  <Paragraphs>30</Paragraphs>
  <ScaleCrop>false</ScaleCrop>
  <Company/>
  <LinksUpToDate>false</LinksUpToDate>
  <CharactersWithSpaces>5500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焦虑抑郁的产生及原因</dc:title>
  <dc:subject>心理学与神经科学科普 - 含原生家庭因素</dc:subject>
  <dc:creator>Kimi Claw</dc:creator>
  <cp:lastModifiedBy>Kimi Claw</cp:lastModifiedBy>
  <cp:revision>2</cp:revision>
  <dcterms:created xsi:type="dcterms:W3CDTF">2026-03-15T10:32:28Z</dcterms:created>
  <dcterms:modified xsi:type="dcterms:W3CDTF">2026-03-15T10:32:28Z</dcterms:modified>
</cp:coreProperties>
</file>