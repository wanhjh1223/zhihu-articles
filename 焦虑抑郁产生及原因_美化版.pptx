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
    <Relationship Id="rId1" Type="http://schemas.openxmlformats.org/officeDocument/2006/relationships/officeDocument" Target="ppt/presentation.xml"/>
    <Relationship Id="rId2" Type="http://schemas.openxmlformats.org/package/2006/relationships/metadata/core-properties" Target="docProps/core.xml"/>
    <Relationship Id="rId3" Type="http://schemas.openxmlformats.org/officeDocument/2006/relationships/extended-properties" Target="docProps/app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6858000" type="screen4x3"/>
  <p:notesSz cx="6858000" cy="9144000"/>
  <p:defaultTextStyle>
    <a:defPPr>
      <a:defRPr lang="zh-CN"/>
    </a:defPPr>
  </p:defaultTextStyle>
</p:presentation>
</file>

<file path=ppt/presProps.xml><?xml version="1.0" encoding="utf-8"?>
<p:presPr xmlns:a="http://schemas.openxmlformats.org/drawingml/2006/main" xmlns:r="http://schemas.openxmlformats.org/officeDocument/2006/relationships" xmlns:p="http://schemas.openxmlformats.org/presentationml/2006/main">
  <p:showPr loop="0" showAnimation="1" showNarration="1" useTimings="1">
    <p:presentMode>present</p:presentMode>
    <p:showScrlOpt>present</p:showScrlOpt>
  </p:showPr>
</p:pres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1">
    <p:restoredLeft sz="15620"/>
    <p:restoredTop sz="94660"/>
  </p:normalViewPr>
  <p:slideViewPr showOutlineIcons="1">
    <p:cSldViewPr snapToGrid="1" snapToObjects="1">
      <p:cViewPr varScale="1">
        <p:scale>
          <a:sx n="104" d="100"/>
          <a:sy n="104" d="100"/>
        </p:scale>
        <p:origin x="-120" y="-90"/>
      </p:cViewPr>
      <p:guideLst/>
    </p:cSldViewPr>
  </p:slideViewPr>
  <p:notesViewPr>
    <p:cSldViewPr>
      <p:cViewPr>
        <p:scale>
          <a:sx n="100" d="100"/>
          <a:sy n="100" d="100"/>
        </p:scale>
        <p:origin x="0" y="0"/>
      </p:cViewPr>
    </p:cSldViewPr>
  </p:notesViewPr>
  <p:gridSpacing cx="72000" cy="72000"/>
</p:viewPr>
</file>

<file path=ppt/_rels/presentation.xml.rels><?xml version="1.0" encoding="UTF-8" standalone="yes"?>
<Relationships xmlns="http://schemas.openxmlformats.org/package/2006/relationships">
    <Relationship Id="rId1" Type="http://schemas.openxmlformats.org/officeDocument/2006/relationships/presProps" Target="presProps.xml"/>
    <Relationship Id="rId2" Type="http://schemas.openxmlformats.org/officeDocument/2006/relationships/slide" Target="slides/slide1.xml"/>
    <Relationship Id="rId3" Type="http://schemas.openxmlformats.org/officeDocument/2006/relationships/slide" Target="slides/slide2.xml"/>
    <Relationship Id="rId4" Type="http://schemas.openxmlformats.org/officeDocument/2006/relationships/slide" Target="slides/slide3.xml"/>
    <Relationship Id="rId5" Type="http://schemas.openxmlformats.org/officeDocument/2006/relationships/slide" Target="slides/slide4.xml"/>
    <Relationship Id="rId6" Type="http://schemas.openxmlformats.org/officeDocument/2006/relationships/slide" Target="slides/slide5.xml"/>
    <Relationship Id="rId7" Type="http://schemas.openxmlformats.org/officeDocument/2006/relationships/slide" Target="slides/slide6.xml"/>
    <Relationship Id="rId8" Type="http://schemas.openxmlformats.org/officeDocument/2006/relationships/slide" Target="slides/slide7.xml"/>
    <Relationship Id="rId9" Type="http://schemas.openxmlformats.org/officeDocument/2006/relationships/slide" Target="slides/slide8.xml"/>
    <Relationship Id="rId10" Type="http://schemas.openxmlformats.org/officeDocument/2006/relationships/slide" Target="slides/slide9.xml"/>
    <Relationship Id="rId11" Type="http://schemas.openxmlformats.org/officeDocument/2006/relationships/slide" Target="slides/slide10.xml"/>
    <Relationship Id="rId12" Type="http://schemas.openxmlformats.org/officeDocument/2006/relationships/slide" Target="slides/slide11.xml"/>
    <Relationship Id="rId13" Type="http://schemas.openxmlformats.org/officeDocument/2006/relationships/slide" Target="slides/slide12.xml"/>
    <Relationship Id="rId14" Type="http://schemas.openxmlformats.org/officeDocument/2006/relationships/viewProps" Target="viewProps.xml"/>
    <Relationship Id="rId15" Type="http://schemas.openxmlformats.org/officeDocument/2006/relationships/theme" Target="theme/theme1.xml"/>
    <Relationship Id="rId16" Type="http://schemas.openxmlformats.org/officeDocument/2006/relationships/tableStyles" Target="tableStyles.xml"/>
    <Relationship Id="rId17" Type="http://schemas.openxmlformats.org/officeDocument/2006/relationships/slideMaster" Target="slideMasters/slideMaster1.xml"/>
</Relationships>
</file>

<file path=ppt/slideLayouts/_rels/slideLayout1.xml.rels><?xml version="1.0" encoding="UTF-8" standalone="yes"?>
<Relationships xmlns="http://schemas.openxmlformats.org/package/2006/relationships">
    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/>
  </p:cSld>
</p:sldLayout>
</file>

<file path=ppt/slideMasters/_rels/slideMaster1.xml.rels><?xml version="1.0" encoding="UTF-8" standalone="yes"?>
<Relationships xmlns="http://schemas.openxmlformats.org/package/2006/relationships">
    <Relationship Id="rId1" Type="http://schemas.openxmlformats.org/officeDocument/2006/relationships/slideLayout" Target="../slideLayouts/slideLayout1.xml"/>
    <Relationship Id="rId2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/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
<Relationships xmlns="http://schemas.openxmlformats.org/package/2006/relationships">
    <Relationship Id="rId1" Type="http://schemas.openxmlformats.org/officeDocument/2006/relationships/slideLayout" Target="../slideLayouts/slideLayout1.xml"/>
</Relationships>
</file>

<file path=ppt/slides/_rels/slide2.xml.rels><?xml version="1.0" encoding="UTF-8" standalone="yes"?>
<Relationships xmlns="http://schemas.openxmlformats.org/package/2006/relationships">
    <Relationship Id="rId1" Type="http://schemas.openxmlformats.org/officeDocument/2006/relationships/slideLayout" Target="../slideLayouts/slideLayout1.xml"/>
</Relationships>
</file>

<file path=ppt/slides/_rels/slide3.xml.rels><?xml version="1.0" encoding="UTF-8" standalone="yes"?>
<Relationships xmlns="http://schemas.openxmlformats.org/package/2006/relationships">
    <Relationship Id="rId1" Type="http://schemas.openxmlformats.org/officeDocument/2006/relationships/slideLayout" Target="../slideLayouts/slideLayout1.xml"/>
</Relationships>
</file>

<file path=ppt/slides/_rels/slide4.xml.rels><?xml version="1.0" encoding="UTF-8" standalone="yes"?>
<Relationships xmlns="http://schemas.openxmlformats.org/package/2006/relationships">
    <Relationship Id="rId1" Type="http://schemas.openxmlformats.org/officeDocument/2006/relationships/slideLayout" Target="../slideLayouts/slideLayout1.xml"/>
</Relationships>
</file>

<file path=ppt/slides/_rels/slide5.xml.rels><?xml version="1.0" encoding="UTF-8" standalone="yes"?>
<Relationships xmlns="http://schemas.openxmlformats.org/package/2006/relationships">
    <Relationship Id="rId1" Type="http://schemas.openxmlformats.org/officeDocument/2006/relationships/slideLayout" Target="../slideLayouts/slideLayout1.xml"/>
</Relationships>
</file>

<file path=ppt/slides/_rels/slide6.xml.rels><?xml version="1.0" encoding="UTF-8" standalone="yes"?>
<Relationships xmlns="http://schemas.openxmlformats.org/package/2006/relationships">
    <Relationship Id="rId1" Type="http://schemas.openxmlformats.org/officeDocument/2006/relationships/slideLayout" Target="../slideLayouts/slideLayout1.xml"/>
</Relationships>
</file>

<file path=ppt/slides/_rels/slide7.xml.rels><?xml version="1.0" encoding="UTF-8" standalone="yes"?>
<Relationships xmlns="http://schemas.openxmlformats.org/package/2006/relationships">
    <Relationship Id="rId1" Type="http://schemas.openxmlformats.org/officeDocument/2006/relationships/slideLayout" Target="../slideLayouts/slideLayout1.xml"/>
</Relationships>
</file>

<file path=ppt/slides/_rels/slide8.xml.rels><?xml version="1.0" encoding="UTF-8" standalone="yes"?>
<Relationships xmlns="http://schemas.openxmlformats.org/package/2006/relationships">
    <Relationship Id="rId1" Type="http://schemas.openxmlformats.org/officeDocument/2006/relationships/slideLayout" Target="../slideLayouts/slideLayout1.xml"/>
</Relationships>
</file>

<file path=ppt/slides/_rels/slide9.xml.rels><?xml version="1.0" encoding="UTF-8" standalone="yes"?>
<Relationships xmlns="http://schemas.openxmlformats.org/package/2006/relationships">
    <Relationship Id="rId1" Type="http://schemas.openxmlformats.org/officeDocument/2006/relationships/slideLayout" Target="../slideLayouts/slideLayout1.xml"/>
</Relationships>
</file>

<file path=ppt/slides/_rels/slide10.xml.rels><?xml version="1.0" encoding="UTF-8" standalone="yes"?>
<Relationships xmlns="http://schemas.openxmlformats.org/package/2006/relationships">
    <Relationship Id="rId1" Type="http://schemas.openxmlformats.org/officeDocument/2006/relationships/slideLayout" Target="../slideLayouts/slideLayout1.xml"/>
</Relationships>
</file>

<file path=ppt/slides/_rels/slide11.xml.rels><?xml version="1.0" encoding="UTF-8" standalone="yes"?>
<Relationships xmlns="http://schemas.openxmlformats.org/package/2006/relationships">
    <Relationship Id="rId1" Type="http://schemas.openxmlformats.org/officeDocument/2006/relationships/slideLayout" Target="../slideLayouts/slideLayout1.xml"/>
</Relationships>
</file>

<file path=ppt/slides/_rels/slide12.xml.rels><?xml version="1.0" encoding="UTF-8" standalone="yes"?>
<Relationships xmlns="http://schemas.openxmlformats.org/package/2006/relationships">
    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1E3A5F"/>
            </a:gs>
            <a:gs pos="50000">
              <a:srgbClr val="2E5984"/>
            </a:gs>
            <a:gs pos="100000">
              <a:srgbClr val="4A90A4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Bar"/>
          <p:cNvSpPr/>
          <p:nvPr/>
        </p:nvSpPr>
        <p:spPr>
          <a:xfrm>
            <a:off x="0" y="0"/>
            <a:ext cx="9144000" cy="400000"/>
          </a:xfrm>
          <a:prstGeom prst="rect">
            <a:avLst/>
          </a:prstGeom>
          <a:solidFill>
            <a:srgbClr val="FF6B6B"/>
          </a:solidFill>
        </p:spPr>
      </p:sp>
      <p:sp>
        <p:nvSpPr>
          <p:cNvPr id="3" name="Title"/>
          <p:cNvSpPr txBox="1"/>
          <p:nvPr/>
        </p:nvSpPr>
        <p:spPr>
          <a:xfrm>
            <a:off x="457200" y="1500000"/>
            <a:ext cx="8231800" cy="1000000"/>
          </a:xfrm>
          <a:prstGeom prst="rect">
            <a:avLst/>
          </a:prstGeom>
        </p:spPr>
        <p:txBody>
          <a:bodyPr/>
          <a:lstStyle/>
          <a:p>
            <a:pPr algn="ctr">
              <a:defRPr sz="5400" b="1"/>
            </a:pPr>
            <a:r>
              <a:rPr lang="zh-CN" sz="5400" b="1">
                <a:solidFill>
                  <a:srgbClr val="FFFFFF"/>
                </a:solidFill>
              </a:rPr>
              <a:t>焦虑抑郁的产生及原因</a:t>
            </a:r>
          </a:p>
        </p:txBody>
      </p:sp>
      <p:sp>
        <p:nvSpPr>
          <p:cNvPr id="4" name="Subtitle"/>
          <p:cNvSpPr txBox="1"/>
          <p:nvPr/>
        </p:nvSpPr>
        <p:spPr>
          <a:xfrm>
            <a:off x="457200" y="2600000"/>
            <a:ext cx="8231800" cy="600000"/>
          </a:xfrm>
          <a:prstGeom prst="rect">
            <a:avLst/>
          </a:prstGeom>
        </p:spPr>
        <p:txBody>
          <a:bodyPr/>
          <a:lstStyle/>
          <a:p>
            <a:pPr algn="ctr">
              <a:defRPr sz="2800"/>
            </a:pPr>
            <a:r>
              <a:rPr lang="zh-CN" sz="2800">
                <a:solidFill>
                  <a:srgbClr val="E8E8E8"/>
                </a:solidFill>
              </a:rPr>
              <a:t>心理学与神经科学视角下的病因分析</a:t>
            </a:r>
          </a:p>
        </p:txBody>
      </p:sp>
      <p:sp>
        <p:nvSpPr>
          <p:cNvPr id="5" name="Footer"/>
          <p:cNvSpPr txBox="1"/>
          <p:nvPr/>
        </p:nvSpPr>
        <p:spPr>
          <a:xfrm>
            <a:off x="457200" y="5500000"/>
            <a:ext cx="8231800" cy="400000"/>
          </a:xfrm>
          <a:prstGeom prst="rect">
            <a:avLst/>
          </a:prstGeom>
        </p:spPr>
        <p:txBody>
          <a:bodyPr/>
          <a:lstStyle/>
          <a:p>
            <a:pPr algn="ctr">
              <a:defRPr sz="2000"/>
            </a:pPr>
            <a:r>
              <a:rPr lang="zh-CN" sz="2000">
                <a:solidFill>
                  <a:srgbClr val="CCCCCC"/>
                </a:solidFill>
              </a:rPr>
              <a:t>原生家庭深度解析 | 2026年3月</a:t>
            </a:r>
          </a:p>
        </p:txBody>
      </p:sp>
      <p:sp>
        <p:nvSpPr>
          <p:cNvPr id="6" name="Circle"/>
          <p:cNvSpPr/>
          <p:nvPr/>
        </p:nvSpPr>
        <p:spPr>
          <a:xfrm>
            <a:off x="8000000" y="4500000"/>
            <a:ext cx="800000" cy="800000"/>
          </a:xfrm>
          <a:prstGeom prst="ellipse">
            <a:avLst/>
          </a:prstGeom>
          <a:solidFill>
            <a:srgbClr val="FF6B6B">
              <a:alpha val="50000"/>
            </a:srgbClr>
          </a:solidFill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1E3A5F"/>
            </a:gs>
            <a:gs pos="50000">
              <a:srgbClr val="2E5984"/>
            </a:gs>
            <a:gs pos="100000">
              <a:srgbClr val="4A90A4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eftBar"/>
          <p:cNvSpPr/>
          <p:nvPr/>
        </p:nvSpPr>
        <p:spPr>
          <a:xfrm>
            <a:off x="0" y="0"/>
            <a:ext cx="200000" cy="6858000"/>
          </a:xfrm>
          <a:prstGeom prst="rect">
            <a:avLst/>
          </a:prstGeom>
          <a:solidFill>
            <a:srgbClr val="FF6B6B"/>
          </a:solidFill>
        </p:spPr>
      </p:sp>
      <p:sp>
        <p:nvSpPr>
          <p:cNvPr id="3" name="TitleBg"/>
          <p:cNvSpPr/>
          <p:nvPr/>
        </p:nvSpPr>
        <p:spPr>
          <a:xfrm>
            <a:off x="300000" y="300000"/>
            <a:ext cx="8544000" cy="900000"/>
          </a:xfrm>
          <a:prstGeom prst="rect">
            <a:avLst/>
          </a:prstGeom>
          <a:solidFill>
            <a:srgbClr val="FFFFFF">
              <a:alpha val="15000"/>
            </a:srgbClr>
          </a:solidFill>
        </p:spPr>
      </p:sp>
      <p:sp>
        <p:nvSpPr>
          <p:cNvPr id="4" name="Title"/>
          <p:cNvSpPr txBox="1"/>
          <p:nvPr/>
        </p:nvSpPr>
        <p:spPr>
          <a:xfrm>
            <a:off x="457200" y="400000"/>
            <a:ext cx="8231800" cy="700000"/>
          </a:xfrm>
          <a:prstGeom prst="rect">
            <a:avLst/>
          </a:prstGeom>
        </p:spPr>
        <p:txBody>
          <a:bodyPr/>
          <a:lstStyle/>
          <a:p>
            <a:pPr>
              <a:defRPr sz="4000" b="1"/>
            </a:pPr>
            <a:r>
              <a:rPr lang="zh-CN" sz="4000" b="1">
                <a:solidFill>
                  <a:srgbClr val="FFFFFF"/>
                </a:solidFill>
              </a:rPr>
              <a:t>什么是焦虑抑郁？</a:t>
            </a:r>
          </a:p>
        </p:txBody>
      </p:sp>
      <p:sp>
        <p:nvSpPr>
          <p:cNvPr id="5" name="ContentBg"/>
          <p:cNvSpPr/>
          <p:nvPr/>
        </p:nvSpPr>
        <p:spPr>
          <a:xfrm>
            <a:off x="457200" y="1300000"/>
            <a:ext cx="8231800" cy="5000000"/>
          </a:xfrm>
          <a:prstGeom prst="rect">
            <a:avLst/>
          </a:prstGeom>
          <a:solidFill>
            <a:srgbClr val="FFFFFF">
              <a:alpha val="10000"/>
            </a:srgbClr>
          </a:solidFill>
        </p:spPr>
      </p:sp>
      <p:sp>
        <p:nvSpPr>
          <p:cNvPr id="6" name="Content"/>
          <p:cNvSpPr txBox="1"/>
          <p:nvPr/>
        </p:nvSpPr>
        <p:spPr>
          <a:xfrm>
            <a:off x="600000" y="1400000"/>
            <a:ext cx="7800000" cy="4800000"/>
          </a:xfrm>
          <a:prstGeom prst="rect">
            <a:avLst/>
          </a:prstGeom>
        </p:spPr>
        <p:txBody>
          <a:bodyPr/>
          <a:lstStyle/>
          <a:p>
            <a:r>
              <a:rPr lang="zh-CN" sz="2000">
                <a:solidFill>
                  <a:srgbClr val="FFFFFF"/>
                </a:solidFill>
              </a:rPr>
              <a:t>焦虑：以紧张、担心和身体变化为特征的情绪</a:t>
            </a:r>
          </a:p>
          <a:p>
            <a:r>
              <a:rPr lang="zh-CN" sz="2000">
                <a:solidFill>
                  <a:srgbClr val="FFFFFF"/>
                </a:solidFill>
              </a:rPr>
              <a:t>抑郁：情绪低落、兴趣缺失、消极观念的精神状态</a:t>
            </a:r>
          </a:p>
          <a:p>
            <a:r>
              <a:rPr lang="zh-CN" sz="2000">
                <a:solidFill>
                  <a:srgbClr val="FFFFFF"/>
                </a:solidFill>
              </a:rPr>
              <a:t>焦虑性抑郁：两者常结伴而来</a:t>
            </a:r>
          </a:p>
          <a:p>
            <a:r>
              <a:rPr lang="zh-CN" sz="2000">
                <a:solidFill>
                  <a:srgbClr val="FFFFFF"/>
                </a:solidFill>
              </a:rPr>
              <a:t>约70%慢性焦虑患者会发展为抑郁症</a:t>
            </a:r>
          </a:p>
          <a:p>
            <a:r>
              <a:rPr lang="zh-CN" sz="2000">
                <a:solidFill>
                  <a:srgbClr val="FFFFFF"/>
                </a:solidFill>
              </a:rPr>
              <a:t>流行病学数据：</a:t>
            </a:r>
          </a:p>
          <a:p>
            <a:pPr marL="360000" indent="-360000">
              <a:buChar char="●"/>
            </a:pPr>
            <a:r>
              <a:rPr lang="zh-CN" sz="2000">
                <a:solidFill>
                  <a:srgbClr val="FFFFFF"/>
                </a:solidFill>
              </a:rPr>
              <a:t>全球约18%成年人患有焦虑症</a:t>
            </a:r>
          </a:p>
          <a:p>
            <a:pPr marL="360000" indent="-360000">
              <a:buChar char="●"/>
            </a:pPr>
            <a:r>
              <a:rPr lang="zh-CN" sz="2000">
                <a:solidFill>
                  <a:srgbClr val="FFFFFF"/>
                </a:solidFill>
              </a:rPr>
              <a:t>全球约3.5亿抑郁症患者</a:t>
            </a:r>
          </a:p>
          <a:p>
            <a:pPr marL="360000" indent="-360000">
              <a:buChar char="●"/>
            </a:pPr>
            <a:r>
              <a:rPr lang="zh-CN" sz="2000">
                <a:solidFill>
                  <a:srgbClr val="FFFFFF"/>
                </a:solidFill>
              </a:rPr>
              <a:t>近2/3成年人有童年不良经历(ACE)</a:t>
            </a:r>
          </a:p>
        </p:txBody>
      </p:sp>
      <p:sp>
        <p:nvSpPr>
          <p:cNvPr id="7" name="Deco"/>
          <p:cNvSpPr/>
          <p:nvPr/>
        </p:nvSpPr>
        <p:spPr>
          <a:xfrm>
            <a:off x="8500000" y="6000000"/>
            <a:ext cx="500000" cy="500000"/>
          </a:xfrm>
          <a:prstGeom prst="ellipse">
            <a:avLst/>
          </a:prstGeom>
          <a:solidFill>
            <a:srgbClr val="FFD93D">
              <a:alpha val="60000"/>
            </a:srgbClr>
          </a:solidFill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1E3A5F"/>
            </a:gs>
            <a:gs pos="50000">
              <a:srgbClr val="2E5984"/>
            </a:gs>
            <a:gs pos="100000">
              <a:srgbClr val="4A90A4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eftBar"/>
          <p:cNvSpPr/>
          <p:nvPr/>
        </p:nvSpPr>
        <p:spPr>
          <a:xfrm>
            <a:off x="0" y="0"/>
            <a:ext cx="200000" cy="6858000"/>
          </a:xfrm>
          <a:prstGeom prst="rect">
            <a:avLst/>
          </a:prstGeom>
          <a:solidFill>
            <a:srgbClr val="FF6B6B"/>
          </a:solidFill>
        </p:spPr>
      </p:sp>
      <p:sp>
        <p:nvSpPr>
          <p:cNvPr id="3" name="TitleBg"/>
          <p:cNvSpPr/>
          <p:nvPr/>
        </p:nvSpPr>
        <p:spPr>
          <a:xfrm>
            <a:off x="300000" y="300000"/>
            <a:ext cx="8544000" cy="900000"/>
          </a:xfrm>
          <a:prstGeom prst="rect">
            <a:avLst/>
          </a:prstGeom>
          <a:solidFill>
            <a:srgbClr val="FFFFFF">
              <a:alpha val="15000"/>
            </a:srgbClr>
          </a:solidFill>
        </p:spPr>
      </p:sp>
      <p:sp>
        <p:nvSpPr>
          <p:cNvPr id="4" name="Title"/>
          <p:cNvSpPr txBox="1"/>
          <p:nvPr/>
        </p:nvSpPr>
        <p:spPr>
          <a:xfrm>
            <a:off x="457200" y="400000"/>
            <a:ext cx="8231800" cy="700000"/>
          </a:xfrm>
          <a:prstGeom prst="rect">
            <a:avLst/>
          </a:prstGeom>
        </p:spPr>
        <p:txBody>
          <a:bodyPr/>
          <a:lstStyle/>
          <a:p>
            <a:pPr>
              <a:defRPr sz="4000" b="1"/>
            </a:pPr>
            <a:r>
              <a:rPr lang="zh-CN" sz="4000" b="1">
                <a:solidFill>
                  <a:srgbClr val="FFFFFF"/>
                </a:solidFill>
              </a:rPr>
              <a:t>原生家庭：焦虑抑郁的温床</a:t>
            </a:r>
          </a:p>
        </p:txBody>
      </p:sp>
      <p:sp>
        <p:nvSpPr>
          <p:cNvPr id="5" name="ContentBg"/>
          <p:cNvSpPr/>
          <p:nvPr/>
        </p:nvSpPr>
        <p:spPr>
          <a:xfrm>
            <a:off x="457200" y="1300000"/>
            <a:ext cx="8231800" cy="5000000"/>
          </a:xfrm>
          <a:prstGeom prst="rect">
            <a:avLst/>
          </a:prstGeom>
          <a:solidFill>
            <a:srgbClr val="FFFFFF">
              <a:alpha val="10000"/>
            </a:srgbClr>
          </a:solidFill>
        </p:spPr>
      </p:sp>
      <p:sp>
        <p:nvSpPr>
          <p:cNvPr id="6" name="Content"/>
          <p:cNvSpPr txBox="1"/>
          <p:nvPr/>
        </p:nvSpPr>
        <p:spPr>
          <a:xfrm>
            <a:off x="600000" y="1400000"/>
            <a:ext cx="7800000" cy="4800000"/>
          </a:xfrm>
          <a:prstGeom prst="rect">
            <a:avLst/>
          </a:prstGeom>
        </p:spPr>
        <p:txBody>
          <a:bodyPr/>
          <a:lstStyle/>
          <a:p>
            <a:r>
              <a:rPr lang="zh-CN" sz="2000">
                <a:solidFill>
                  <a:srgbClr val="FFFFFF"/>
                </a:solidFill>
              </a:rPr>
              <a:t>童年创伤的长期影响</a:t>
            </a:r>
          </a:p>
          <a:p>
            <a:r>
              <a:rPr lang="zh-CN" sz="2000">
                <a:solidFill>
                  <a:srgbClr val="FFFFFF"/>
                </a:solidFill>
              </a:rPr>
              <a:t>童年逆境占焦虑障碍人口可归因风险：32.4%</a:t>
            </a:r>
          </a:p>
          <a:p>
            <a:r>
              <a:rPr lang="zh-CN" sz="2000">
                <a:solidFill>
                  <a:srgbClr val="FFFFFF"/>
                </a:solidFill>
              </a:rPr>
              <a:t>有过童年创伤的人患病可能性是普通人的2倍</a:t>
            </a:r>
          </a:p>
          <a:p>
            <a:r>
              <a:rPr lang="zh-CN" sz="2000">
                <a:solidFill>
                  <a:srgbClr val="FFFFFF"/>
                </a:solidFill>
              </a:rPr>
              <a:t>童年创伤可预测地解释了26.2%的情绪障碍</a:t>
            </a:r>
          </a:p>
          <a:p>
            <a:r>
              <a:rPr lang="zh-CN" sz="2000">
                <a:solidFill>
                  <a:srgbClr val="FFFFFF"/>
                </a:solidFill>
              </a:rPr>
              <a:t>关键研究发现：</a:t>
            </a:r>
          </a:p>
          <a:p>
            <a:pPr marL="360000" indent="-360000">
              <a:buChar char="●"/>
            </a:pPr>
            <a:r>
              <a:rPr lang="zh-CN" sz="2000">
                <a:solidFill>
                  <a:srgbClr val="FFFFFF"/>
                </a:solidFill>
              </a:rPr>
              <a:t>ACE研究：童年不良经历与抑郁风险呈剂量依赖关系</a:t>
            </a:r>
          </a:p>
          <a:p>
            <a:pPr marL="360000" indent="-360000">
              <a:buChar char="●"/>
            </a:pPr>
            <a:r>
              <a:rPr lang="zh-CN" sz="2000">
                <a:solidFill>
                  <a:srgbClr val="FFFFFF"/>
                </a:solidFill>
              </a:rPr>
              <a:t>近2/3美国成年人经历过至少一次童年不良经历</a:t>
            </a:r>
          </a:p>
          <a:p>
            <a:pPr marL="360000" indent="-360000">
              <a:buChar char="●"/>
            </a:pPr>
            <a:r>
              <a:rPr lang="zh-CN" sz="2000">
                <a:solidFill>
                  <a:srgbClr val="FFFFFF"/>
                </a:solidFill>
              </a:rPr>
              <a:t>情感忽视的影响往往比身体虐待更深远</a:t>
            </a:r>
          </a:p>
        </p:txBody>
      </p:sp>
      <p:sp>
        <p:nvSpPr>
          <p:cNvPr id="7" name="Deco"/>
          <p:cNvSpPr/>
          <p:nvPr/>
        </p:nvSpPr>
        <p:spPr>
          <a:xfrm>
            <a:off x="8500000" y="6000000"/>
            <a:ext cx="500000" cy="500000"/>
          </a:xfrm>
          <a:prstGeom prst="ellipse">
            <a:avLst/>
          </a:prstGeom>
          <a:solidFill>
            <a:srgbClr val="FFD93D">
              <a:alpha val="60000"/>
            </a:srgbClr>
          </a:solidFill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1E3A5F"/>
            </a:gs>
            <a:gs pos="50000">
              <a:srgbClr val="2E5984"/>
            </a:gs>
            <a:gs pos="100000">
              <a:srgbClr val="4A90A4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eftBar"/>
          <p:cNvSpPr/>
          <p:nvPr/>
        </p:nvSpPr>
        <p:spPr>
          <a:xfrm>
            <a:off x="0" y="0"/>
            <a:ext cx="200000" cy="6858000"/>
          </a:xfrm>
          <a:prstGeom prst="rect">
            <a:avLst/>
          </a:prstGeom>
          <a:solidFill>
            <a:srgbClr val="FF6B6B"/>
          </a:solidFill>
        </p:spPr>
      </p:sp>
      <p:sp>
        <p:nvSpPr>
          <p:cNvPr id="3" name="TitleBg"/>
          <p:cNvSpPr/>
          <p:nvPr/>
        </p:nvSpPr>
        <p:spPr>
          <a:xfrm>
            <a:off x="300000" y="300000"/>
            <a:ext cx="8544000" cy="900000"/>
          </a:xfrm>
          <a:prstGeom prst="rect">
            <a:avLst/>
          </a:prstGeom>
          <a:solidFill>
            <a:srgbClr val="FFFFFF">
              <a:alpha val="15000"/>
            </a:srgbClr>
          </a:solidFill>
        </p:spPr>
      </p:sp>
      <p:sp>
        <p:nvSpPr>
          <p:cNvPr id="4" name="Title"/>
          <p:cNvSpPr txBox="1"/>
          <p:nvPr/>
        </p:nvSpPr>
        <p:spPr>
          <a:xfrm>
            <a:off x="457200" y="400000"/>
            <a:ext cx="8231800" cy="700000"/>
          </a:xfrm>
          <a:prstGeom prst="rect">
            <a:avLst/>
          </a:prstGeom>
        </p:spPr>
        <p:txBody>
          <a:bodyPr/>
          <a:lstStyle/>
          <a:p>
            <a:pPr>
              <a:defRPr sz="4000" b="1"/>
            </a:pPr>
            <a:r>
              <a:rPr lang="zh-CN" sz="4000" b="1">
                <a:solidFill>
                  <a:srgbClr val="FFFFFF"/>
                </a:solidFill>
              </a:rPr>
              <a:t>原生家庭行为（一）：控制与压制</a:t>
            </a:r>
          </a:p>
        </p:txBody>
      </p:sp>
      <p:sp>
        <p:nvSpPr>
          <p:cNvPr id="5" name="ContentBg"/>
          <p:cNvSpPr/>
          <p:nvPr/>
        </p:nvSpPr>
        <p:spPr>
          <a:xfrm>
            <a:off x="457200" y="1300000"/>
            <a:ext cx="8231800" cy="5000000"/>
          </a:xfrm>
          <a:prstGeom prst="rect">
            <a:avLst/>
          </a:prstGeom>
          <a:solidFill>
            <a:srgbClr val="FFFFFF">
              <a:alpha val="10000"/>
            </a:srgbClr>
          </a:solidFill>
        </p:spPr>
      </p:sp>
      <p:sp>
        <p:nvSpPr>
          <p:cNvPr id="6" name="Content"/>
          <p:cNvSpPr txBox="1"/>
          <p:nvPr/>
        </p:nvSpPr>
        <p:spPr>
          <a:xfrm>
            <a:off x="600000" y="1400000"/>
            <a:ext cx="7800000" cy="4800000"/>
          </a:xfrm>
          <a:prstGeom prst="rect">
            <a:avLst/>
          </a:prstGeom>
        </p:spPr>
        <p:txBody>
          <a:bodyPr/>
          <a:lstStyle/>
          <a:p>
            <a:r>
              <a:rPr lang="zh-CN" sz="2000">
                <a:solidFill>
                  <a:srgbClr val="FFFFFF"/>
                </a:solidFill>
              </a:rPr>
              <a:t>专制型父母行为：</a:t>
            </a:r>
          </a:p>
          <a:p>
            <a:pPr marL="360000" indent="-360000">
              <a:buChar char="●"/>
            </a:pPr>
            <a:r>
              <a:rPr lang="zh-CN" sz="2000">
                <a:solidFill>
                  <a:srgbClr val="FFFFFF"/>
                </a:solidFill>
              </a:rPr>
              <a:t>高要求、低回应，强调服从与纪律</a:t>
            </a:r>
          </a:p>
          <a:p>
            <a:pPr marL="360000" indent="-360000">
              <a:buChar char="●"/>
            </a:pPr>
            <a:r>
              <a:rPr lang="zh-CN" sz="2000">
                <a:solidFill>
                  <a:srgbClr val="FFFFFF"/>
                </a:solidFill>
              </a:rPr>
              <a:t>使用惩罚维持规范，而非沟通</a:t>
            </a:r>
          </a:p>
          <a:p>
            <a:pPr marL="360000" indent="-360000">
              <a:buChar char="●"/>
            </a:pPr>
            <a:r>
              <a:rPr lang="zh-CN" sz="2000">
                <a:solidFill>
                  <a:srgbClr val="FFFFFF"/>
                </a:solidFill>
              </a:rPr>
              <a:t>孩子没有参与决策的权力</a:t>
            </a:r>
          </a:p>
          <a:p>
            <a:r>
              <a:rPr lang="zh-CN" sz="2000">
                <a:solidFill>
                  <a:srgbClr val="FFFFFF"/>
                </a:solidFill>
              </a:rPr>
              <a:t>过度控制与保护：</a:t>
            </a:r>
          </a:p>
          <a:p>
            <a:pPr marL="360000" indent="-360000">
              <a:buChar char="●"/>
            </a:pPr>
            <a:r>
              <a:rPr lang="zh-CN" sz="2000">
                <a:solidFill>
                  <a:srgbClr val="FFFFFF"/>
                </a:solidFill>
              </a:rPr>
              <a:t>限制孩子接触产生焦虑的情境</a:t>
            </a:r>
          </a:p>
          <a:p>
            <a:pPr marL="360000" indent="-360000">
              <a:buChar char="●"/>
            </a:pPr>
            <a:r>
              <a:rPr lang="zh-CN" sz="2000">
                <a:solidFill>
                  <a:srgbClr val="FFFFFF"/>
                </a:solidFill>
              </a:rPr>
              <a:t>"直升机父母"：盘旋在孩子身上</a:t>
            </a:r>
          </a:p>
          <a:p>
            <a:pPr marL="360000" indent="-360000">
              <a:buChar char="●"/>
            </a:pPr>
            <a:r>
              <a:rPr lang="zh-CN" sz="2000">
                <a:solidFill>
                  <a:srgbClr val="FFFFFF"/>
                </a:solidFill>
              </a:rPr>
              <a:t>侵入性养育：替孩子完成任务</a:t>
            </a:r>
          </a:p>
          <a:p>
            <a:r>
              <a:rPr lang="zh-CN" sz="2000">
                <a:solidFill>
                  <a:srgbClr val="FFFFFF"/>
                </a:solidFill>
              </a:rPr>
              <a:t>后果：情绪焦虑、自卑、缺乏探索动力</a:t>
            </a:r>
          </a:p>
        </p:txBody>
      </p:sp>
      <p:sp>
        <p:nvSpPr>
          <p:cNvPr id="7" name="Deco"/>
          <p:cNvSpPr/>
          <p:nvPr/>
        </p:nvSpPr>
        <p:spPr>
          <a:xfrm>
            <a:off x="8500000" y="6000000"/>
            <a:ext cx="500000" cy="500000"/>
          </a:xfrm>
          <a:prstGeom prst="ellipse">
            <a:avLst/>
          </a:prstGeom>
          <a:solidFill>
            <a:srgbClr val="FFD93D">
              <a:alpha val="60000"/>
            </a:srgbClr>
          </a:solidFill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1E3A5F"/>
            </a:gs>
            <a:gs pos="50000">
              <a:srgbClr val="2E5984"/>
            </a:gs>
            <a:gs pos="100000">
              <a:srgbClr val="4A90A4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eftBar"/>
          <p:cNvSpPr/>
          <p:nvPr/>
        </p:nvSpPr>
        <p:spPr>
          <a:xfrm>
            <a:off x="0" y="0"/>
            <a:ext cx="200000" cy="6858000"/>
          </a:xfrm>
          <a:prstGeom prst="rect">
            <a:avLst/>
          </a:prstGeom>
          <a:solidFill>
            <a:srgbClr val="FF6B6B"/>
          </a:solidFill>
        </p:spPr>
      </p:sp>
      <p:sp>
        <p:nvSpPr>
          <p:cNvPr id="3" name="TitleBg"/>
          <p:cNvSpPr/>
          <p:nvPr/>
        </p:nvSpPr>
        <p:spPr>
          <a:xfrm>
            <a:off x="300000" y="300000"/>
            <a:ext cx="8544000" cy="900000"/>
          </a:xfrm>
          <a:prstGeom prst="rect">
            <a:avLst/>
          </a:prstGeom>
          <a:solidFill>
            <a:srgbClr val="FFFFFF">
              <a:alpha val="15000"/>
            </a:srgbClr>
          </a:solidFill>
        </p:spPr>
      </p:sp>
      <p:sp>
        <p:nvSpPr>
          <p:cNvPr id="4" name="Title"/>
          <p:cNvSpPr txBox="1"/>
          <p:nvPr/>
        </p:nvSpPr>
        <p:spPr>
          <a:xfrm>
            <a:off x="457200" y="400000"/>
            <a:ext cx="8231800" cy="700000"/>
          </a:xfrm>
          <a:prstGeom prst="rect">
            <a:avLst/>
          </a:prstGeom>
        </p:spPr>
        <p:txBody>
          <a:bodyPr/>
          <a:lstStyle/>
          <a:p>
            <a:pPr>
              <a:defRPr sz="4000" b="1"/>
            </a:pPr>
            <a:r>
              <a:rPr lang="zh-CN" sz="4000" b="1">
                <a:solidFill>
                  <a:srgbClr val="FFFFFF"/>
                </a:solidFill>
              </a:rPr>
              <a:t>原生家庭行为（二）：情感忽视与拒绝</a:t>
            </a:r>
          </a:p>
        </p:txBody>
      </p:sp>
      <p:sp>
        <p:nvSpPr>
          <p:cNvPr id="5" name="ContentBg"/>
          <p:cNvSpPr/>
          <p:nvPr/>
        </p:nvSpPr>
        <p:spPr>
          <a:xfrm>
            <a:off x="457200" y="1300000"/>
            <a:ext cx="8231800" cy="5000000"/>
          </a:xfrm>
          <a:prstGeom prst="rect">
            <a:avLst/>
          </a:prstGeom>
          <a:solidFill>
            <a:srgbClr val="FFFFFF">
              <a:alpha val="10000"/>
            </a:srgbClr>
          </a:solidFill>
        </p:spPr>
      </p:sp>
      <p:sp>
        <p:nvSpPr>
          <p:cNvPr id="6" name="Content"/>
          <p:cNvSpPr txBox="1"/>
          <p:nvPr/>
        </p:nvSpPr>
        <p:spPr>
          <a:xfrm>
            <a:off x="600000" y="1400000"/>
            <a:ext cx="7800000" cy="4800000"/>
          </a:xfrm>
          <a:prstGeom prst="rect">
            <a:avLst/>
          </a:prstGeom>
        </p:spPr>
        <p:txBody>
          <a:bodyPr/>
          <a:lstStyle/>
          <a:p>
            <a:r>
              <a:rPr lang="zh-CN" sz="2000">
                <a:solidFill>
                  <a:srgbClr val="FFFFFF"/>
                </a:solidFill>
              </a:rPr>
              <a:t>情感忽视：</a:t>
            </a:r>
          </a:p>
          <a:p>
            <a:pPr marL="360000" indent="-360000">
              <a:buChar char="●"/>
            </a:pPr>
            <a:r>
              <a:rPr lang="zh-CN" sz="2000">
                <a:solidFill>
                  <a:srgbClr val="FFFFFF"/>
                </a:solidFill>
              </a:rPr>
              <a:t>对孩子的需求和感受缺乏回应</a:t>
            </a:r>
          </a:p>
          <a:p>
            <a:pPr marL="360000" indent="-360000">
              <a:buChar char="●"/>
            </a:pPr>
            <a:r>
              <a:rPr lang="zh-CN" sz="2000">
                <a:solidFill>
                  <a:srgbClr val="FFFFFF"/>
                </a:solidFill>
              </a:rPr>
              <a:t>情感冷漠，回避亲密关系</a:t>
            </a:r>
          </a:p>
          <a:p>
            <a:pPr marL="360000" indent="-360000">
              <a:buChar char="●"/>
            </a:pPr>
            <a:r>
              <a:rPr lang="zh-CN" sz="2000">
                <a:solidFill>
                  <a:srgbClr val="FFFFFF"/>
                </a:solidFill>
              </a:rPr>
              <a:t>不表达爱、温暖和支持</a:t>
            </a:r>
          </a:p>
          <a:p>
            <a:r>
              <a:rPr lang="zh-CN" sz="2000">
                <a:solidFill>
                  <a:srgbClr val="FFFFFF"/>
                </a:solidFill>
              </a:rPr>
              <a:t>情感虐待与拒绝：</a:t>
            </a:r>
          </a:p>
          <a:p>
            <a:pPr marL="360000" indent="-360000">
              <a:buChar char="●"/>
            </a:pPr>
            <a:r>
              <a:rPr lang="zh-CN" sz="2000">
                <a:solidFill>
                  <a:srgbClr val="FFFFFF"/>
                </a:solidFill>
              </a:rPr>
              <a:t>过度批评、贬低、羞辱</a:t>
            </a:r>
          </a:p>
          <a:p>
            <a:pPr marL="360000" indent="-360000">
              <a:buChar char="●"/>
            </a:pPr>
            <a:r>
              <a:rPr lang="zh-CN" sz="2000">
                <a:solidFill>
                  <a:srgbClr val="FFFFFF"/>
                </a:solidFill>
              </a:rPr>
              <a:t>"这不行、那不行"的否定教育</a:t>
            </a:r>
          </a:p>
          <a:p>
            <a:r>
              <a:rPr lang="zh-CN" sz="2000">
                <a:solidFill>
                  <a:srgbClr val="FFFFFF"/>
                </a:solidFill>
              </a:rPr>
              <a:t>造成的后果：</a:t>
            </a:r>
          </a:p>
          <a:p>
            <a:pPr marL="360000" indent="-360000">
              <a:buChar char="●"/>
            </a:pPr>
            <a:r>
              <a:rPr lang="zh-CN" sz="2000">
                <a:solidFill>
                  <a:srgbClr val="FFFFFF"/>
                </a:solidFill>
              </a:rPr>
              <a:t>形成"我不够好"的核心信念</a:t>
            </a:r>
          </a:p>
          <a:p>
            <a:pPr marL="360000" indent="-360000">
              <a:buChar char="●"/>
            </a:pPr>
            <a:r>
              <a:rPr lang="zh-CN" sz="2000">
                <a:solidFill>
                  <a:srgbClr val="FFFFFF"/>
                </a:solidFill>
              </a:rPr>
              <a:t>社交恐惧，害怕被拒绝</a:t>
            </a:r>
          </a:p>
          <a:p>
            <a:pPr marL="360000" indent="-360000">
              <a:buChar char="●"/>
            </a:pPr>
            <a:r>
              <a:rPr lang="zh-CN" sz="2000">
                <a:solidFill>
                  <a:srgbClr val="FFFFFF"/>
                </a:solidFill>
              </a:rPr>
              <a:t>习惯性讨好他人</a:t>
            </a:r>
          </a:p>
          <a:p>
            <a:pPr marL="360000" indent="-360000">
              <a:buChar char="●"/>
            </a:pPr>
            <a:r>
              <a:rPr lang="zh-CN" sz="2000">
                <a:solidFill>
                  <a:srgbClr val="FFFFFF"/>
                </a:solidFill>
              </a:rPr>
              <a:t>成年后难以建立健康亲密关系</a:t>
            </a:r>
          </a:p>
        </p:txBody>
      </p:sp>
      <p:sp>
        <p:nvSpPr>
          <p:cNvPr id="7" name="Deco"/>
          <p:cNvSpPr/>
          <p:nvPr/>
        </p:nvSpPr>
        <p:spPr>
          <a:xfrm>
            <a:off x="8500000" y="6000000"/>
            <a:ext cx="500000" cy="500000"/>
          </a:xfrm>
          <a:prstGeom prst="ellipse">
            <a:avLst/>
          </a:prstGeom>
          <a:solidFill>
            <a:srgbClr val="FFD93D">
              <a:alpha val="60000"/>
            </a:srgbClr>
          </a:solidFill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1E3A5F"/>
            </a:gs>
            <a:gs pos="50000">
              <a:srgbClr val="2E5984"/>
            </a:gs>
            <a:gs pos="100000">
              <a:srgbClr val="4A90A4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eftBar"/>
          <p:cNvSpPr/>
          <p:nvPr/>
        </p:nvSpPr>
        <p:spPr>
          <a:xfrm>
            <a:off x="0" y="0"/>
            <a:ext cx="200000" cy="6858000"/>
          </a:xfrm>
          <a:prstGeom prst="rect">
            <a:avLst/>
          </a:prstGeom>
          <a:solidFill>
            <a:srgbClr val="FF6B6B"/>
          </a:solidFill>
        </p:spPr>
      </p:sp>
      <p:sp>
        <p:nvSpPr>
          <p:cNvPr id="3" name="TitleBg"/>
          <p:cNvSpPr/>
          <p:nvPr/>
        </p:nvSpPr>
        <p:spPr>
          <a:xfrm>
            <a:off x="300000" y="300000"/>
            <a:ext cx="8544000" cy="900000"/>
          </a:xfrm>
          <a:prstGeom prst="rect">
            <a:avLst/>
          </a:prstGeom>
          <a:solidFill>
            <a:srgbClr val="FFFFFF">
              <a:alpha val="15000"/>
            </a:srgbClr>
          </a:solidFill>
        </p:spPr>
      </p:sp>
      <p:sp>
        <p:nvSpPr>
          <p:cNvPr id="4" name="Title"/>
          <p:cNvSpPr txBox="1"/>
          <p:nvPr/>
        </p:nvSpPr>
        <p:spPr>
          <a:xfrm>
            <a:off x="457200" y="400000"/>
            <a:ext cx="8231800" cy="700000"/>
          </a:xfrm>
          <a:prstGeom prst="rect">
            <a:avLst/>
          </a:prstGeom>
        </p:spPr>
        <p:txBody>
          <a:bodyPr/>
          <a:lstStyle/>
          <a:p>
            <a:pPr>
              <a:defRPr sz="4000" b="1"/>
            </a:pPr>
            <a:r>
              <a:rPr lang="zh-CN" sz="4000" b="1">
                <a:solidFill>
                  <a:srgbClr val="FFFFFF"/>
                </a:solidFill>
              </a:rPr>
              <a:t>原生家庭行为（三）：示范与强化回避</a:t>
            </a:r>
          </a:p>
        </p:txBody>
      </p:sp>
      <p:sp>
        <p:nvSpPr>
          <p:cNvPr id="5" name="ContentBg"/>
          <p:cNvSpPr/>
          <p:nvPr/>
        </p:nvSpPr>
        <p:spPr>
          <a:xfrm>
            <a:off x="457200" y="1300000"/>
            <a:ext cx="8231800" cy="5000000"/>
          </a:xfrm>
          <a:prstGeom prst="rect">
            <a:avLst/>
          </a:prstGeom>
          <a:solidFill>
            <a:srgbClr val="FFFFFF">
              <a:alpha val="10000"/>
            </a:srgbClr>
          </a:solidFill>
        </p:spPr>
      </p:sp>
      <p:sp>
        <p:nvSpPr>
          <p:cNvPr id="6" name="Content"/>
          <p:cNvSpPr txBox="1"/>
          <p:nvPr/>
        </p:nvSpPr>
        <p:spPr>
          <a:xfrm>
            <a:off x="600000" y="1400000"/>
            <a:ext cx="7800000" cy="4800000"/>
          </a:xfrm>
          <a:prstGeom prst="rect">
            <a:avLst/>
          </a:prstGeom>
        </p:spPr>
        <p:txBody>
          <a:bodyPr/>
          <a:lstStyle/>
          <a:p>
            <a:r>
              <a:rPr lang="zh-CN" sz="2000">
                <a:solidFill>
                  <a:srgbClr val="FFFFFF"/>
                </a:solidFill>
              </a:rPr>
              <a:t>父母的焦虑示范：</a:t>
            </a:r>
          </a:p>
          <a:p>
            <a:pPr marL="360000" indent="-360000">
              <a:buChar char="●"/>
            </a:pPr>
            <a:r>
              <a:rPr lang="zh-CN" sz="2000">
                <a:solidFill>
                  <a:srgbClr val="FFFFFF"/>
                </a:solidFill>
              </a:rPr>
              <a:t>孩子通过观察学习父母如何应对</a:t>
            </a:r>
          </a:p>
          <a:p>
            <a:pPr marL="360000" indent="-360000">
              <a:buChar char="●"/>
            </a:pPr>
            <a:r>
              <a:rPr lang="zh-CN" sz="2000">
                <a:solidFill>
                  <a:srgbClr val="FFFFFF"/>
                </a:solidFill>
              </a:rPr>
              <a:t>焦虑父母的控制行为被孩子模仿</a:t>
            </a:r>
          </a:p>
          <a:p>
            <a:pPr marL="360000" indent="-360000">
              <a:buChar char="●"/>
            </a:pPr>
            <a:r>
              <a:rPr lang="zh-CN" sz="2000">
                <a:solidFill>
                  <a:srgbClr val="FFFFFF"/>
                </a:solidFill>
              </a:rPr>
              <a:t>传递"世界是危险的"信号</a:t>
            </a:r>
          </a:p>
          <a:p>
            <a:r>
              <a:rPr lang="zh-CN" sz="2000">
                <a:solidFill>
                  <a:srgbClr val="FFFFFF"/>
                </a:solidFill>
              </a:rPr>
              <a:t>强化孩子的回避行为：</a:t>
            </a:r>
          </a:p>
          <a:p>
            <a:pPr marL="360000" indent="-360000">
              <a:buChar char="●"/>
            </a:pPr>
            <a:r>
              <a:rPr lang="zh-CN" sz="2000">
                <a:solidFill>
                  <a:srgbClr val="FFFFFF"/>
                </a:solidFill>
              </a:rPr>
              <a:t>替害怕社交的孩子点餐、与店员交谈</a:t>
            </a:r>
          </a:p>
          <a:p>
            <a:pPr marL="360000" indent="-360000">
              <a:buChar char="●"/>
            </a:pPr>
            <a:r>
              <a:rPr lang="zh-CN" sz="2000">
                <a:solidFill>
                  <a:srgbClr val="FFFFFF"/>
                </a:solidFill>
              </a:rPr>
              <a:t>孩子不愿上学时允许其待在家里</a:t>
            </a:r>
          </a:p>
          <a:p>
            <a:r>
              <a:rPr lang="zh-CN" sz="2000">
                <a:solidFill>
                  <a:srgbClr val="FFFFFF"/>
                </a:solidFill>
              </a:rPr>
              <a:t>造成的后果：</a:t>
            </a:r>
          </a:p>
          <a:p>
            <a:pPr marL="360000" indent="-360000">
              <a:buChar char="●"/>
            </a:pPr>
            <a:r>
              <a:rPr lang="zh-CN" sz="2000">
                <a:solidFill>
                  <a:srgbClr val="FFFFFF"/>
                </a:solidFill>
              </a:rPr>
              <a:t>孩子学会逃避是解决问题的方法</a:t>
            </a:r>
          </a:p>
          <a:p>
            <a:pPr marL="360000" indent="-360000">
              <a:buChar char="●"/>
            </a:pPr>
            <a:r>
              <a:rPr lang="zh-CN" sz="2000">
                <a:solidFill>
                  <a:srgbClr val="FFFFFF"/>
                </a:solidFill>
              </a:rPr>
              <a:t>回避行为被自我强化</a:t>
            </a:r>
          </a:p>
          <a:p>
            <a:pPr marL="360000" indent="-360000">
              <a:buChar char="●"/>
            </a:pPr>
            <a:r>
              <a:rPr lang="zh-CN" sz="2000">
                <a:solidFill>
                  <a:srgbClr val="FFFFFF"/>
                </a:solidFill>
              </a:rPr>
              <a:t>社交技能发展不足</a:t>
            </a:r>
          </a:p>
          <a:p>
            <a:pPr marL="360000" indent="-360000">
              <a:buChar char="●"/>
            </a:pPr>
            <a:r>
              <a:rPr lang="zh-CN" sz="2000">
                <a:solidFill>
                  <a:srgbClr val="FFFFFF"/>
                </a:solidFill>
              </a:rPr>
              <a:t>不敢走出家门，不敢尝试新事物</a:t>
            </a:r>
          </a:p>
        </p:txBody>
      </p:sp>
      <p:sp>
        <p:nvSpPr>
          <p:cNvPr id="7" name="Deco"/>
          <p:cNvSpPr/>
          <p:nvPr/>
        </p:nvSpPr>
        <p:spPr>
          <a:xfrm>
            <a:off x="8500000" y="6000000"/>
            <a:ext cx="500000" cy="500000"/>
          </a:xfrm>
          <a:prstGeom prst="ellipse">
            <a:avLst/>
          </a:prstGeom>
          <a:solidFill>
            <a:srgbClr val="FFD93D">
              <a:alpha val="60000"/>
            </a:srgbClr>
          </a:solidFill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1E3A5F"/>
            </a:gs>
            <a:gs pos="50000">
              <a:srgbClr val="2E5984"/>
            </a:gs>
            <a:gs pos="100000">
              <a:srgbClr val="4A90A4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eftBar"/>
          <p:cNvSpPr/>
          <p:nvPr/>
        </p:nvSpPr>
        <p:spPr>
          <a:xfrm>
            <a:off x="0" y="0"/>
            <a:ext cx="200000" cy="6858000"/>
          </a:xfrm>
          <a:prstGeom prst="rect">
            <a:avLst/>
          </a:prstGeom>
          <a:solidFill>
            <a:srgbClr val="FF6B6B"/>
          </a:solidFill>
        </p:spPr>
      </p:sp>
      <p:sp>
        <p:nvSpPr>
          <p:cNvPr id="3" name="TitleBg"/>
          <p:cNvSpPr/>
          <p:nvPr/>
        </p:nvSpPr>
        <p:spPr>
          <a:xfrm>
            <a:off x="300000" y="300000"/>
            <a:ext cx="8544000" cy="900000"/>
          </a:xfrm>
          <a:prstGeom prst="rect">
            <a:avLst/>
          </a:prstGeom>
          <a:solidFill>
            <a:srgbClr val="FFFFFF">
              <a:alpha val="15000"/>
            </a:srgbClr>
          </a:solidFill>
        </p:spPr>
      </p:sp>
      <p:sp>
        <p:nvSpPr>
          <p:cNvPr id="4" name="Title"/>
          <p:cNvSpPr txBox="1"/>
          <p:nvPr/>
        </p:nvSpPr>
        <p:spPr>
          <a:xfrm>
            <a:off x="457200" y="400000"/>
            <a:ext cx="8231800" cy="700000"/>
          </a:xfrm>
          <a:prstGeom prst="rect">
            <a:avLst/>
          </a:prstGeom>
        </p:spPr>
        <p:txBody>
          <a:bodyPr/>
          <a:lstStyle/>
          <a:p>
            <a:pPr>
              <a:defRPr sz="4000" b="1"/>
            </a:pPr>
            <a:r>
              <a:rPr lang="zh-CN" sz="4000" b="1">
                <a:solidFill>
                  <a:srgbClr val="FFFFFF"/>
                </a:solidFill>
              </a:rPr>
              <a:t>原生家庭行为（四）：创伤性经历</a:t>
            </a:r>
          </a:p>
        </p:txBody>
      </p:sp>
      <p:sp>
        <p:nvSpPr>
          <p:cNvPr id="5" name="ContentBg"/>
          <p:cNvSpPr/>
          <p:nvPr/>
        </p:nvSpPr>
        <p:spPr>
          <a:xfrm>
            <a:off x="457200" y="1300000"/>
            <a:ext cx="8231800" cy="5000000"/>
          </a:xfrm>
          <a:prstGeom prst="rect">
            <a:avLst/>
          </a:prstGeom>
          <a:solidFill>
            <a:srgbClr val="FFFFFF">
              <a:alpha val="10000"/>
            </a:srgbClr>
          </a:solidFill>
        </p:spPr>
      </p:sp>
      <p:sp>
        <p:nvSpPr>
          <p:cNvPr id="6" name="Content"/>
          <p:cNvSpPr txBox="1"/>
          <p:nvPr/>
        </p:nvSpPr>
        <p:spPr>
          <a:xfrm>
            <a:off x="600000" y="1400000"/>
            <a:ext cx="7800000" cy="4800000"/>
          </a:xfrm>
          <a:prstGeom prst="rect">
            <a:avLst/>
          </a:prstGeom>
        </p:spPr>
        <p:txBody>
          <a:bodyPr/>
          <a:lstStyle/>
          <a:p>
            <a:r>
              <a:rPr lang="zh-CN" sz="2000">
                <a:solidFill>
                  <a:srgbClr val="FFFFFF"/>
                </a:solidFill>
              </a:rPr>
              <a:t>虐待与暴力：</a:t>
            </a:r>
          </a:p>
          <a:p>
            <a:pPr marL="360000" indent="-360000">
              <a:buChar char="●"/>
            </a:pPr>
            <a:r>
              <a:rPr lang="zh-CN" sz="2000">
                <a:solidFill>
                  <a:srgbClr val="FFFFFF"/>
                </a:solidFill>
              </a:rPr>
              <a:t>身体虐待：打骂、体罚</a:t>
            </a:r>
          </a:p>
          <a:p>
            <a:pPr marL="360000" indent="-360000">
              <a:buChar char="●"/>
            </a:pPr>
            <a:r>
              <a:rPr lang="zh-CN" sz="2000">
                <a:solidFill>
                  <a:srgbClr val="FFFFFF"/>
                </a:solidFill>
              </a:rPr>
              <a:t>性虐待：任何形式的性侵害</a:t>
            </a:r>
          </a:p>
          <a:p>
            <a:pPr marL="360000" indent="-360000">
              <a:buChar char="●"/>
            </a:pPr>
            <a:r>
              <a:rPr lang="zh-CN" sz="2000">
                <a:solidFill>
                  <a:srgbClr val="FFFFFF"/>
                </a:solidFill>
              </a:rPr>
              <a:t>家庭暴力：目睹父母冲突</a:t>
            </a:r>
          </a:p>
          <a:p>
            <a:r>
              <a:rPr lang="zh-CN" sz="2000">
                <a:solidFill>
                  <a:srgbClr val="FFFFFF"/>
                </a:solidFill>
              </a:rPr>
              <a:t>家庭环境不稳定：</a:t>
            </a:r>
          </a:p>
          <a:p>
            <a:pPr marL="360000" indent="-360000">
              <a:buChar char="●"/>
            </a:pPr>
            <a:r>
              <a:rPr lang="zh-CN" sz="2000">
                <a:solidFill>
                  <a:srgbClr val="FFFFFF"/>
                </a:solidFill>
              </a:rPr>
              <a:t>父母离异或分居</a:t>
            </a:r>
          </a:p>
          <a:p>
            <a:pPr marL="360000" indent="-360000">
              <a:buChar char="●"/>
            </a:pPr>
            <a:r>
              <a:rPr lang="zh-CN" sz="2000">
                <a:solidFill>
                  <a:srgbClr val="FFFFFF"/>
                </a:solidFill>
              </a:rPr>
              <a:t>频繁搬家、转学</a:t>
            </a:r>
          </a:p>
          <a:p>
            <a:pPr marL="360000" indent="-360000">
              <a:buChar char="●"/>
            </a:pPr>
            <a:r>
              <a:rPr lang="zh-CN" sz="2000">
                <a:solidFill>
                  <a:srgbClr val="FFFFFF"/>
                </a:solidFill>
              </a:rPr>
              <a:t>经济困难</a:t>
            </a:r>
          </a:p>
          <a:p>
            <a:r>
              <a:rPr lang="zh-CN" sz="2000">
                <a:solidFill>
                  <a:srgbClr val="FFFFFF"/>
                </a:solidFill>
              </a:rPr>
              <a:t>造成的后果：</a:t>
            </a:r>
          </a:p>
          <a:p>
            <a:pPr marL="360000" indent="-360000">
              <a:buChar char="●"/>
            </a:pPr>
            <a:r>
              <a:rPr lang="zh-CN" sz="2000">
                <a:solidFill>
                  <a:srgbClr val="FFFFFF"/>
                </a:solidFill>
              </a:rPr>
              <a:t>创伤后应激障碍(PTSD)</a:t>
            </a:r>
          </a:p>
          <a:p>
            <a:pPr marL="360000" indent="-360000">
              <a:buChar char="●"/>
            </a:pPr>
            <a:r>
              <a:rPr lang="zh-CN" sz="2000">
                <a:solidFill>
                  <a:srgbClr val="FFFFFF"/>
                </a:solidFill>
              </a:rPr>
              <a:t>对人际关系缺乏基本信任</a:t>
            </a:r>
          </a:p>
          <a:p>
            <a:pPr marL="360000" indent="-360000">
              <a:buChar char="●"/>
            </a:pPr>
            <a:r>
              <a:rPr lang="zh-CN" sz="2000">
                <a:solidFill>
                  <a:srgbClr val="FFFFFF"/>
                </a:solidFill>
              </a:rPr>
              <a:t>高度警觉(hypervigilance)：总是察言观色</a:t>
            </a:r>
          </a:p>
          <a:p>
            <a:pPr marL="360000" indent="-360000">
              <a:buChar char="●"/>
            </a:pPr>
            <a:r>
              <a:rPr lang="zh-CN" sz="2000">
                <a:solidFill>
                  <a:srgbClr val="FFFFFF"/>
                </a:solidFill>
              </a:rPr>
              <a:t>成年后更容易患抑郁和焦虑障碍</a:t>
            </a:r>
          </a:p>
        </p:txBody>
      </p:sp>
      <p:sp>
        <p:nvSpPr>
          <p:cNvPr id="7" name="Deco"/>
          <p:cNvSpPr/>
          <p:nvPr/>
        </p:nvSpPr>
        <p:spPr>
          <a:xfrm>
            <a:off x="8500000" y="6000000"/>
            <a:ext cx="500000" cy="500000"/>
          </a:xfrm>
          <a:prstGeom prst="ellipse">
            <a:avLst/>
          </a:prstGeom>
          <a:solidFill>
            <a:srgbClr val="FFD93D">
              <a:alpha val="60000"/>
            </a:srgbClr>
          </a:solidFill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1E3A5F"/>
            </a:gs>
            <a:gs pos="50000">
              <a:srgbClr val="2E5984"/>
            </a:gs>
            <a:gs pos="100000">
              <a:srgbClr val="4A90A4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eftBar"/>
          <p:cNvSpPr/>
          <p:nvPr/>
        </p:nvSpPr>
        <p:spPr>
          <a:xfrm>
            <a:off x="0" y="0"/>
            <a:ext cx="200000" cy="6858000"/>
          </a:xfrm>
          <a:prstGeom prst="rect">
            <a:avLst/>
          </a:prstGeom>
          <a:solidFill>
            <a:srgbClr val="FF6B6B"/>
          </a:solidFill>
        </p:spPr>
      </p:sp>
      <p:sp>
        <p:nvSpPr>
          <p:cNvPr id="3" name="TitleBg"/>
          <p:cNvSpPr/>
          <p:nvPr/>
        </p:nvSpPr>
        <p:spPr>
          <a:xfrm>
            <a:off x="300000" y="300000"/>
            <a:ext cx="8544000" cy="900000"/>
          </a:xfrm>
          <a:prstGeom prst="rect">
            <a:avLst/>
          </a:prstGeom>
          <a:solidFill>
            <a:srgbClr val="FFFFFF">
              <a:alpha val="15000"/>
            </a:srgbClr>
          </a:solidFill>
        </p:spPr>
      </p:sp>
      <p:sp>
        <p:nvSpPr>
          <p:cNvPr id="4" name="Title"/>
          <p:cNvSpPr txBox="1"/>
          <p:nvPr/>
        </p:nvSpPr>
        <p:spPr>
          <a:xfrm>
            <a:off x="457200" y="400000"/>
            <a:ext cx="8231800" cy="700000"/>
          </a:xfrm>
          <a:prstGeom prst="rect">
            <a:avLst/>
          </a:prstGeom>
        </p:spPr>
        <p:txBody>
          <a:bodyPr/>
          <a:lstStyle/>
          <a:p>
            <a:pPr>
              <a:defRPr sz="4000" b="1"/>
            </a:pPr>
            <a:r>
              <a:rPr lang="zh-CN" sz="4000" b="1">
                <a:solidFill>
                  <a:srgbClr val="FFFFFF"/>
                </a:solidFill>
              </a:rPr>
              <a:t>生物学因素</a:t>
            </a:r>
          </a:p>
        </p:txBody>
      </p:sp>
      <p:sp>
        <p:nvSpPr>
          <p:cNvPr id="5" name="ContentBg"/>
          <p:cNvSpPr/>
          <p:nvPr/>
        </p:nvSpPr>
        <p:spPr>
          <a:xfrm>
            <a:off x="457200" y="1300000"/>
            <a:ext cx="8231800" cy="5000000"/>
          </a:xfrm>
          <a:prstGeom prst="rect">
            <a:avLst/>
          </a:prstGeom>
          <a:solidFill>
            <a:srgbClr val="FFFFFF">
              <a:alpha val="10000"/>
            </a:srgbClr>
          </a:solidFill>
        </p:spPr>
      </p:sp>
      <p:sp>
        <p:nvSpPr>
          <p:cNvPr id="6" name="Content"/>
          <p:cNvSpPr txBox="1"/>
          <p:nvPr/>
        </p:nvSpPr>
        <p:spPr>
          <a:xfrm>
            <a:off x="600000" y="1400000"/>
            <a:ext cx="7800000" cy="4800000"/>
          </a:xfrm>
          <a:prstGeom prst="rect">
            <a:avLst/>
          </a:prstGeom>
        </p:spPr>
        <p:txBody>
          <a:bodyPr/>
          <a:lstStyle/>
          <a:p>
            <a:pPr marL="360000" indent="-360000">
              <a:buChar char="●"/>
            </a:pPr>
            <a:r>
              <a:rPr lang="zh-CN" sz="2000">
                <a:solidFill>
                  <a:srgbClr val="FFFFFF"/>
                </a:solidFill>
              </a:rPr>
              <a:t>1. 遗传因素</a:t>
            </a:r>
          </a:p>
          <a:p>
            <a:pPr marL="720000"/>
            <a:r>
              <a:rPr lang="zh-CN" sz="1800">
                <a:solidFill>
                  <a:srgbClr val="E8E8E8"/>
                </a:solidFill>
              </a:rPr>
              <a:t>焦虑症具有家族聚集性</a:t>
            </a:r>
          </a:p>
          <a:p>
            <a:pPr marL="360000" indent="-360000">
              <a:buChar char="●"/>
            </a:pPr>
            <a:r>
              <a:rPr lang="zh-CN" sz="2000">
                <a:solidFill>
                  <a:srgbClr val="FFFFFF"/>
                </a:solidFill>
              </a:rPr>
              <a:t>2. 脑结构异常</a:t>
            </a:r>
          </a:p>
          <a:p>
            <a:pPr marL="720000"/>
            <a:r>
              <a:rPr lang="zh-CN" sz="1800">
                <a:solidFill>
                  <a:srgbClr val="E8E8E8"/>
                </a:solidFill>
              </a:rPr>
              <a:t>杏仁核：过度活跃，对威胁过度反应</a:t>
            </a:r>
          </a:p>
          <a:p>
            <a:pPr marL="720000"/>
            <a:r>
              <a:rPr lang="zh-CN" sz="1800">
                <a:solidFill>
                  <a:srgbClr val="E8E8E8"/>
                </a:solidFill>
              </a:rPr>
              <a:t>前额叶皮层：功能不足，调节能力减弱</a:t>
            </a:r>
          </a:p>
          <a:p>
            <a:pPr marL="720000"/>
            <a:r>
              <a:rPr lang="zh-CN" sz="1800">
                <a:solidFill>
                  <a:srgbClr val="E8E8E8"/>
                </a:solidFill>
              </a:rPr>
              <a:t>海马体：长期压力导致体积缩小</a:t>
            </a:r>
          </a:p>
          <a:p>
            <a:pPr marL="360000" indent="-360000">
              <a:buChar char="●"/>
            </a:pPr>
            <a:r>
              <a:rPr lang="zh-CN" sz="2000">
                <a:solidFill>
                  <a:srgbClr val="FFFFFF"/>
                </a:solidFill>
              </a:rPr>
              <a:t>3. 神经递质失衡</a:t>
            </a:r>
          </a:p>
          <a:p>
            <a:pPr marL="720000"/>
            <a:r>
              <a:rPr lang="zh-CN" sz="1800">
                <a:solidFill>
                  <a:srgbClr val="E8E8E8"/>
                </a:solidFill>
              </a:rPr>
              <a:t>5-羟色胺水平低下</a:t>
            </a:r>
          </a:p>
          <a:p>
            <a:pPr marL="720000"/>
            <a:r>
              <a:rPr lang="zh-CN" sz="1800">
                <a:solidFill>
                  <a:srgbClr val="E8E8E8"/>
                </a:solidFill>
              </a:rPr>
              <a:t>GABA（刹车机制）功能减弱</a:t>
            </a:r>
          </a:p>
          <a:p>
            <a:pPr marL="360000" indent="-360000">
              <a:buChar char="●"/>
            </a:pPr>
            <a:r>
              <a:rPr lang="zh-CN" sz="2000">
                <a:solidFill>
                  <a:srgbClr val="FFFFFF"/>
                </a:solidFill>
              </a:rPr>
              <a:t>4. HPA轴失调</a:t>
            </a:r>
          </a:p>
          <a:p>
            <a:pPr marL="720000"/>
            <a:r>
              <a:rPr lang="zh-CN" sz="1800">
                <a:solidFill>
                  <a:srgbClr val="E8E8E8"/>
                </a:solidFill>
              </a:rPr>
              <a:t>皮质醇持续升高</a:t>
            </a:r>
          </a:p>
          <a:p>
            <a:pPr marL="720000"/>
            <a:r>
              <a:rPr lang="zh-CN" sz="1800">
                <a:solidFill>
                  <a:srgbClr val="E8E8E8"/>
                </a:solidFill>
              </a:rPr>
              <a:t>负反馈机制失灵</a:t>
            </a:r>
          </a:p>
        </p:txBody>
      </p:sp>
      <p:sp>
        <p:nvSpPr>
          <p:cNvPr id="7" name="Deco"/>
          <p:cNvSpPr/>
          <p:nvPr/>
        </p:nvSpPr>
        <p:spPr>
          <a:xfrm>
            <a:off x="8500000" y="6000000"/>
            <a:ext cx="500000" cy="500000"/>
          </a:xfrm>
          <a:prstGeom prst="ellipse">
            <a:avLst/>
          </a:prstGeom>
          <a:solidFill>
            <a:srgbClr val="FFD93D">
              <a:alpha val="60000"/>
            </a:srgbClr>
          </a:solidFill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1E3A5F"/>
            </a:gs>
            <a:gs pos="50000">
              <a:srgbClr val="2E5984"/>
            </a:gs>
            <a:gs pos="100000">
              <a:srgbClr val="4A90A4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eftBar"/>
          <p:cNvSpPr/>
          <p:nvPr/>
        </p:nvSpPr>
        <p:spPr>
          <a:xfrm>
            <a:off x="0" y="0"/>
            <a:ext cx="200000" cy="6858000"/>
          </a:xfrm>
          <a:prstGeom prst="rect">
            <a:avLst/>
          </a:prstGeom>
          <a:solidFill>
            <a:srgbClr val="FF6B6B"/>
          </a:solidFill>
        </p:spPr>
      </p:sp>
      <p:sp>
        <p:nvSpPr>
          <p:cNvPr id="3" name="TitleBg"/>
          <p:cNvSpPr/>
          <p:nvPr/>
        </p:nvSpPr>
        <p:spPr>
          <a:xfrm>
            <a:off x="300000" y="300000"/>
            <a:ext cx="8544000" cy="900000"/>
          </a:xfrm>
          <a:prstGeom prst="rect">
            <a:avLst/>
          </a:prstGeom>
          <a:solidFill>
            <a:srgbClr val="FFFFFF">
              <a:alpha val="15000"/>
            </a:srgbClr>
          </a:solidFill>
        </p:spPr>
      </p:sp>
      <p:sp>
        <p:nvSpPr>
          <p:cNvPr id="4" name="Title"/>
          <p:cNvSpPr txBox="1"/>
          <p:nvPr/>
        </p:nvSpPr>
        <p:spPr>
          <a:xfrm>
            <a:off x="457200" y="400000"/>
            <a:ext cx="8231800" cy="700000"/>
          </a:xfrm>
          <a:prstGeom prst="rect">
            <a:avLst/>
          </a:prstGeom>
        </p:spPr>
        <p:txBody>
          <a:bodyPr/>
          <a:lstStyle/>
          <a:p>
            <a:pPr>
              <a:defRPr sz="4000" b="1"/>
            </a:pPr>
            <a:r>
              <a:rPr lang="zh-CN" sz="4000" b="1">
                <a:solidFill>
                  <a:srgbClr val="FFFFFF"/>
                </a:solidFill>
              </a:rPr>
              <a:t>心理因素</a:t>
            </a:r>
          </a:p>
        </p:txBody>
      </p:sp>
      <p:sp>
        <p:nvSpPr>
          <p:cNvPr id="5" name="ContentBg"/>
          <p:cNvSpPr/>
          <p:nvPr/>
        </p:nvSpPr>
        <p:spPr>
          <a:xfrm>
            <a:off x="457200" y="1300000"/>
            <a:ext cx="8231800" cy="5000000"/>
          </a:xfrm>
          <a:prstGeom prst="rect">
            <a:avLst/>
          </a:prstGeom>
          <a:solidFill>
            <a:srgbClr val="FFFFFF">
              <a:alpha val="10000"/>
            </a:srgbClr>
          </a:solidFill>
        </p:spPr>
      </p:sp>
      <p:sp>
        <p:nvSpPr>
          <p:cNvPr id="6" name="Content"/>
          <p:cNvSpPr txBox="1"/>
          <p:nvPr/>
        </p:nvSpPr>
        <p:spPr>
          <a:xfrm>
            <a:off x="600000" y="1400000"/>
            <a:ext cx="7800000" cy="4800000"/>
          </a:xfrm>
          <a:prstGeom prst="rect">
            <a:avLst/>
          </a:prstGeom>
        </p:spPr>
        <p:txBody>
          <a:bodyPr/>
          <a:lstStyle/>
          <a:p>
            <a:r>
              <a:rPr lang="zh-CN" sz="2000">
                <a:solidFill>
                  <a:srgbClr val="FFFFFF"/>
                </a:solidFill>
              </a:rPr>
              <a:t>认知模式问题：</a:t>
            </a:r>
          </a:p>
          <a:p>
            <a:pPr marL="360000" indent="-360000">
              <a:buChar char="●"/>
            </a:pPr>
            <a:r>
              <a:rPr lang="zh-CN" sz="2000">
                <a:solidFill>
                  <a:srgbClr val="FFFFFF"/>
                </a:solidFill>
              </a:rPr>
              <a:t>灾难化思维：将小事放大为威胁</a:t>
            </a:r>
          </a:p>
          <a:p>
            <a:pPr marL="360000" indent="-360000">
              <a:buChar char="●"/>
            </a:pPr>
            <a:r>
              <a:rPr lang="zh-CN" sz="2000">
                <a:solidFill>
                  <a:srgbClr val="FFFFFF"/>
                </a:solidFill>
              </a:rPr>
              <a:t>负面思维循环</a:t>
            </a:r>
          </a:p>
          <a:p>
            <a:pPr marL="360000" indent="-360000">
              <a:buChar char="●"/>
            </a:pPr>
            <a:r>
              <a:rPr lang="zh-CN" sz="2000">
                <a:solidFill>
                  <a:srgbClr val="FFFFFF"/>
                </a:solidFill>
              </a:rPr>
              <a:t>完美主义：对不确定性容忍度低</a:t>
            </a:r>
          </a:p>
          <a:p>
            <a:pPr marL="360000" indent="-360000">
              <a:buChar char="●"/>
            </a:pPr>
            <a:r>
              <a:rPr lang="zh-CN" sz="2000">
                <a:solidFill>
                  <a:srgbClr val="FFFFFF"/>
                </a:solidFill>
              </a:rPr>
              <a:t>"我不够好"的核心自我认知</a:t>
            </a:r>
          </a:p>
          <a:p>
            <a:r>
              <a:rPr lang="zh-CN" sz="2000">
                <a:solidFill>
                  <a:srgbClr val="FFFFFF"/>
                </a:solidFill>
              </a:rPr>
              <a:t>性格特质：</a:t>
            </a:r>
          </a:p>
          <a:p>
            <a:pPr marL="360000" indent="-360000">
              <a:buChar char="●"/>
            </a:pPr>
            <a:r>
              <a:rPr lang="zh-CN" sz="2000">
                <a:solidFill>
                  <a:srgbClr val="FFFFFF"/>
                </a:solidFill>
              </a:rPr>
              <a:t>高度敏感、易受伤</a:t>
            </a:r>
          </a:p>
          <a:p>
            <a:pPr marL="360000" indent="-360000">
              <a:buChar char="●"/>
            </a:pPr>
            <a:r>
              <a:rPr lang="zh-CN" sz="2000">
                <a:solidFill>
                  <a:srgbClr val="FFFFFF"/>
                </a:solidFill>
              </a:rPr>
              <a:t>缺乏自信心</a:t>
            </a:r>
          </a:p>
          <a:p>
            <a:pPr marL="360000" indent="-360000">
              <a:buChar char="●"/>
            </a:pPr>
            <a:r>
              <a:rPr lang="zh-CN" sz="2000">
                <a:solidFill>
                  <a:srgbClr val="FFFFFF"/>
                </a:solidFill>
              </a:rPr>
              <a:t>回避行为模式</a:t>
            </a:r>
          </a:p>
          <a:p>
            <a:r>
              <a:rPr lang="zh-CN" sz="2000">
                <a:solidFill>
                  <a:srgbClr val="FFFFFF"/>
                </a:solidFill>
              </a:rPr>
              <a:t>心理动力学因素：</a:t>
            </a:r>
          </a:p>
          <a:p>
            <a:pPr marL="360000" indent="-360000">
              <a:buChar char="●"/>
            </a:pPr>
            <a:r>
              <a:rPr lang="zh-CN" sz="2000">
                <a:solidFill>
                  <a:srgbClr val="FFFFFF"/>
                </a:solidFill>
              </a:rPr>
              <a:t>潜意识中的冲突和压抑</a:t>
            </a:r>
          </a:p>
          <a:p>
            <a:pPr marL="360000" indent="-360000">
              <a:buChar char="●"/>
            </a:pPr>
            <a:r>
              <a:rPr lang="zh-CN" sz="2000">
                <a:solidFill>
                  <a:srgbClr val="FFFFFF"/>
                </a:solidFill>
              </a:rPr>
              <a:t>内化的严苛父母声音</a:t>
            </a:r>
          </a:p>
          <a:p>
            <a:pPr marL="360000" indent="-360000">
              <a:buChar char="●"/>
            </a:pPr>
            <a:r>
              <a:rPr lang="zh-CN" sz="2000">
                <a:solidFill>
                  <a:srgbClr val="FFFFFF"/>
                </a:solidFill>
              </a:rPr>
              <a:t>恐惧型依恋模式</a:t>
            </a:r>
          </a:p>
        </p:txBody>
      </p:sp>
      <p:sp>
        <p:nvSpPr>
          <p:cNvPr id="7" name="Deco"/>
          <p:cNvSpPr/>
          <p:nvPr/>
        </p:nvSpPr>
        <p:spPr>
          <a:xfrm>
            <a:off x="8500000" y="6000000"/>
            <a:ext cx="500000" cy="500000"/>
          </a:xfrm>
          <a:prstGeom prst="ellipse">
            <a:avLst/>
          </a:prstGeom>
          <a:solidFill>
            <a:srgbClr val="FFD93D">
              <a:alpha val="60000"/>
            </a:srgbClr>
          </a:solidFill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1E3A5F"/>
            </a:gs>
            <a:gs pos="50000">
              <a:srgbClr val="2E5984"/>
            </a:gs>
            <a:gs pos="100000">
              <a:srgbClr val="4A90A4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eftBar"/>
          <p:cNvSpPr/>
          <p:nvPr/>
        </p:nvSpPr>
        <p:spPr>
          <a:xfrm>
            <a:off x="0" y="0"/>
            <a:ext cx="200000" cy="6858000"/>
          </a:xfrm>
          <a:prstGeom prst="rect">
            <a:avLst/>
          </a:prstGeom>
          <a:solidFill>
            <a:srgbClr val="FF6B6B"/>
          </a:solidFill>
        </p:spPr>
      </p:sp>
      <p:sp>
        <p:nvSpPr>
          <p:cNvPr id="3" name="TitleBg"/>
          <p:cNvSpPr/>
          <p:nvPr/>
        </p:nvSpPr>
        <p:spPr>
          <a:xfrm>
            <a:off x="300000" y="300000"/>
            <a:ext cx="8544000" cy="900000"/>
          </a:xfrm>
          <a:prstGeom prst="rect">
            <a:avLst/>
          </a:prstGeom>
          <a:solidFill>
            <a:srgbClr val="FFFFFF">
              <a:alpha val="15000"/>
            </a:srgbClr>
          </a:solidFill>
        </p:spPr>
      </p:sp>
      <p:sp>
        <p:nvSpPr>
          <p:cNvPr id="4" name="Title"/>
          <p:cNvSpPr txBox="1"/>
          <p:nvPr/>
        </p:nvSpPr>
        <p:spPr>
          <a:xfrm>
            <a:off x="457200" y="400000"/>
            <a:ext cx="8231800" cy="700000"/>
          </a:xfrm>
          <a:prstGeom prst="rect">
            <a:avLst/>
          </a:prstGeom>
        </p:spPr>
        <p:txBody>
          <a:bodyPr/>
          <a:lstStyle/>
          <a:p>
            <a:pPr>
              <a:defRPr sz="4000" b="1"/>
            </a:pPr>
            <a:r>
              <a:rPr lang="zh-CN" sz="4000" b="1">
                <a:solidFill>
                  <a:srgbClr val="FFFFFF"/>
                </a:solidFill>
              </a:rPr>
              <a:t>大脑神经机制</a:t>
            </a:r>
          </a:p>
        </p:txBody>
      </p:sp>
      <p:sp>
        <p:nvSpPr>
          <p:cNvPr id="5" name="ContentBg"/>
          <p:cNvSpPr/>
          <p:nvPr/>
        </p:nvSpPr>
        <p:spPr>
          <a:xfrm>
            <a:off x="457200" y="1300000"/>
            <a:ext cx="8231800" cy="5000000"/>
          </a:xfrm>
          <a:prstGeom prst="rect">
            <a:avLst/>
          </a:prstGeom>
          <a:solidFill>
            <a:srgbClr val="FFFFFF">
              <a:alpha val="10000"/>
            </a:srgbClr>
          </a:solidFill>
        </p:spPr>
      </p:sp>
      <p:sp>
        <p:nvSpPr>
          <p:cNvPr id="6" name="Content"/>
          <p:cNvSpPr txBox="1"/>
          <p:nvPr/>
        </p:nvSpPr>
        <p:spPr>
          <a:xfrm>
            <a:off x="600000" y="1400000"/>
            <a:ext cx="7800000" cy="4800000"/>
          </a:xfrm>
          <a:prstGeom prst="rect">
            <a:avLst/>
          </a:prstGeom>
        </p:spPr>
        <p:txBody>
          <a:bodyPr/>
          <a:lstStyle/>
          <a:p>
            <a:r>
              <a:rPr lang="zh-CN" sz="2000">
                <a:solidFill>
                  <a:srgbClr val="FFFFFF"/>
                </a:solidFill>
              </a:rPr>
              <a:t>神经回路失调：</a:t>
            </a:r>
          </a:p>
          <a:p>
            <a:pPr marL="360000" indent="-360000">
              <a:buChar char="●"/>
            </a:pPr>
            <a:r>
              <a:rPr lang="zh-CN" sz="2000">
                <a:solidFill>
                  <a:srgbClr val="FFFFFF"/>
                </a:solidFill>
              </a:rPr>
              <a:t>杏仁核-前额叶环路连接减弱</a:t>
            </a:r>
          </a:p>
          <a:p>
            <a:pPr marL="360000" indent="-360000">
              <a:buChar char="●"/>
            </a:pPr>
            <a:r>
              <a:rPr lang="zh-CN" sz="2000">
                <a:solidFill>
                  <a:srgbClr val="FFFFFF"/>
                </a:solidFill>
              </a:rPr>
              <a:t>慢性压力改变信号传导</a:t>
            </a:r>
          </a:p>
          <a:p>
            <a:r>
              <a:rPr lang="zh-CN" sz="2000">
                <a:solidFill>
                  <a:srgbClr val="FFFFFF"/>
                </a:solidFill>
              </a:rPr>
              <a:t>神经可塑性改变：</a:t>
            </a:r>
          </a:p>
          <a:p>
            <a:pPr marL="360000" indent="-360000">
              <a:buChar char="●"/>
            </a:pPr>
            <a:r>
              <a:rPr lang="zh-CN" sz="2000">
                <a:solidFill>
                  <a:srgbClr val="FFFFFF"/>
                </a:solidFill>
              </a:rPr>
              <a:t>海马体：新生神经元减少</a:t>
            </a:r>
          </a:p>
          <a:p>
            <a:pPr marL="360000" indent="-360000">
              <a:buChar char="●"/>
            </a:pPr>
            <a:r>
              <a:rPr lang="zh-CN" sz="2000">
                <a:solidFill>
                  <a:srgbClr val="FFFFFF"/>
                </a:solidFill>
              </a:rPr>
              <a:t>前额叶皮层：执行功能下降</a:t>
            </a:r>
          </a:p>
          <a:p>
            <a:pPr marL="360000" indent="-360000">
              <a:buChar char="●"/>
            </a:pPr>
            <a:r>
              <a:rPr lang="zh-CN" sz="2000">
                <a:solidFill>
                  <a:srgbClr val="FFFFFF"/>
                </a:solidFill>
              </a:rPr>
              <a:t>杏仁核：反应性增强</a:t>
            </a:r>
          </a:p>
          <a:p>
            <a:r>
              <a:rPr lang="zh-CN" sz="2000">
                <a:solidFill>
                  <a:srgbClr val="FFFFFF"/>
                </a:solidFill>
              </a:rPr>
              <a:t>神经炎症：</a:t>
            </a:r>
          </a:p>
          <a:p>
            <a:pPr marL="360000" indent="-360000">
              <a:buChar char="●"/>
            </a:pPr>
            <a:r>
              <a:rPr lang="zh-CN" sz="2000">
                <a:solidFill>
                  <a:srgbClr val="FFFFFF"/>
                </a:solidFill>
              </a:rPr>
              <a:t>促炎细胞因子升高</a:t>
            </a:r>
          </a:p>
          <a:p>
            <a:pPr marL="360000" indent="-360000">
              <a:buChar char="●"/>
            </a:pPr>
            <a:r>
              <a:rPr lang="zh-CN" sz="2000">
                <a:solidFill>
                  <a:srgbClr val="FFFFFF"/>
                </a:solidFill>
              </a:rPr>
              <a:t>小胶质细胞活化</a:t>
            </a:r>
          </a:p>
          <a:p>
            <a:r>
              <a:rPr lang="zh-CN" sz="2000">
                <a:solidFill>
                  <a:srgbClr val="FFFFFF"/>
                </a:solidFill>
              </a:rPr>
              <a:t>分子机制：</a:t>
            </a:r>
          </a:p>
          <a:p>
            <a:pPr marL="360000" indent="-360000">
              <a:buChar char="●"/>
            </a:pPr>
            <a:r>
              <a:rPr lang="zh-CN" sz="2000">
                <a:solidFill>
                  <a:srgbClr val="FFFFFF"/>
                </a:solidFill>
              </a:rPr>
              <a:t>SIRT1基因表达下调</a:t>
            </a:r>
          </a:p>
          <a:p>
            <a:pPr marL="360000" indent="-360000">
              <a:buChar char="●"/>
            </a:pPr>
            <a:r>
              <a:rPr lang="zh-CN" sz="2000">
                <a:solidFill>
                  <a:srgbClr val="FFFFFF"/>
                </a:solidFill>
              </a:rPr>
              <a:t>CRF（促肾上腺皮质激素释放因子）上调</a:t>
            </a:r>
          </a:p>
        </p:txBody>
      </p:sp>
      <p:sp>
        <p:nvSpPr>
          <p:cNvPr id="7" name="Deco"/>
          <p:cNvSpPr/>
          <p:nvPr/>
        </p:nvSpPr>
        <p:spPr>
          <a:xfrm>
            <a:off x="8500000" y="6000000"/>
            <a:ext cx="500000" cy="500000"/>
          </a:xfrm>
          <a:prstGeom prst="ellipse">
            <a:avLst/>
          </a:prstGeom>
          <a:solidFill>
            <a:srgbClr val="FFD93D">
              <a:alpha val="60000"/>
            </a:srgbClr>
          </a:solidFill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1E3A5F"/>
            </a:gs>
            <a:gs pos="50000">
              <a:srgbClr val="2E5984"/>
            </a:gs>
            <a:gs pos="100000">
              <a:srgbClr val="4A90A4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eftBar"/>
          <p:cNvSpPr/>
          <p:nvPr/>
        </p:nvSpPr>
        <p:spPr>
          <a:xfrm>
            <a:off x="0" y="0"/>
            <a:ext cx="200000" cy="6858000"/>
          </a:xfrm>
          <a:prstGeom prst="rect">
            <a:avLst/>
          </a:prstGeom>
          <a:solidFill>
            <a:srgbClr val="FF6B6B"/>
          </a:solidFill>
        </p:spPr>
      </p:sp>
      <p:sp>
        <p:nvSpPr>
          <p:cNvPr id="3" name="TitleBg"/>
          <p:cNvSpPr/>
          <p:nvPr/>
        </p:nvSpPr>
        <p:spPr>
          <a:xfrm>
            <a:off x="300000" y="300000"/>
            <a:ext cx="8544000" cy="900000"/>
          </a:xfrm>
          <a:prstGeom prst="rect">
            <a:avLst/>
          </a:prstGeom>
          <a:solidFill>
            <a:srgbClr val="FFFFFF">
              <a:alpha val="15000"/>
            </a:srgbClr>
          </a:solidFill>
        </p:spPr>
      </p:sp>
      <p:sp>
        <p:nvSpPr>
          <p:cNvPr id="4" name="Title"/>
          <p:cNvSpPr txBox="1"/>
          <p:nvPr/>
        </p:nvSpPr>
        <p:spPr>
          <a:xfrm>
            <a:off x="457200" y="400000"/>
            <a:ext cx="8231800" cy="700000"/>
          </a:xfrm>
          <a:prstGeom prst="rect">
            <a:avLst/>
          </a:prstGeom>
        </p:spPr>
        <p:txBody>
          <a:bodyPr/>
          <a:lstStyle/>
          <a:p>
            <a:pPr>
              <a:defRPr sz="4000" b="1"/>
            </a:pPr>
            <a:r>
              <a:rPr lang="zh-CN" sz="4000" b="1">
                <a:solidFill>
                  <a:srgbClr val="FFFFFF"/>
                </a:solidFill>
              </a:rPr>
              <a:t>病因总结：多因素交互模型</a:t>
            </a:r>
          </a:p>
        </p:txBody>
      </p:sp>
      <p:sp>
        <p:nvSpPr>
          <p:cNvPr id="5" name="ContentBg"/>
          <p:cNvSpPr/>
          <p:nvPr/>
        </p:nvSpPr>
        <p:spPr>
          <a:xfrm>
            <a:off x="457200" y="1300000"/>
            <a:ext cx="8231800" cy="5000000"/>
          </a:xfrm>
          <a:prstGeom prst="rect">
            <a:avLst/>
          </a:prstGeom>
          <a:solidFill>
            <a:srgbClr val="FFFFFF">
              <a:alpha val="10000"/>
            </a:srgbClr>
          </a:solidFill>
        </p:spPr>
      </p:sp>
      <p:sp>
        <p:nvSpPr>
          <p:cNvPr id="6" name="Content"/>
          <p:cNvSpPr txBox="1"/>
          <p:nvPr/>
        </p:nvSpPr>
        <p:spPr>
          <a:xfrm>
            <a:off x="600000" y="1400000"/>
            <a:ext cx="7800000" cy="4800000"/>
          </a:xfrm>
          <a:prstGeom prst="rect">
            <a:avLst/>
          </a:prstGeom>
        </p:spPr>
        <p:txBody>
          <a:bodyPr/>
          <a:lstStyle/>
          <a:p>
            <a:pPr marL="720000"/>
            <a:r>
              <a:rPr lang="zh-CN" sz="1800">
                <a:solidFill>
                  <a:srgbClr val="E8E8E8"/>
                </a:solidFill>
              </a:rPr>
              <a:t>原生家庭因素</a:t>
            </a:r>
          </a:p>
          <a:p>
            <a:pPr marL="720000"/>
            <a:r>
              <a:rPr lang="zh-CN" sz="1800">
                <a:solidFill>
                  <a:srgbClr val="E8E8E8"/>
                </a:solidFill>
              </a:rPr>
              <a:t>↓</a:t>
            </a:r>
          </a:p>
          <a:p>
            <a:pPr marL="720000"/>
            <a:r>
              <a:rPr lang="zh-CN" sz="1800">
                <a:solidFill>
                  <a:srgbClr val="E8E8E8"/>
                </a:solidFill>
              </a:rPr>
              <a:t>┌─────────┼─────────┐</a:t>
            </a:r>
          </a:p>
          <a:p>
            <a:pPr marL="720000"/>
            <a:r>
              <a:rPr lang="zh-CN" sz="1800">
                <a:solidFill>
                  <a:srgbClr val="E8E8E8"/>
                </a:solidFill>
              </a:rPr>
              <a:t>↓         ↓         ↓</a:t>
            </a:r>
          </a:p>
          <a:p>
            <a:r>
              <a:rPr lang="zh-CN" sz="2000">
                <a:solidFill>
                  <a:srgbClr val="FFFFFF"/>
                </a:solidFill>
              </a:rPr>
              <a:t>生物学因素  心理因素   社会环境因素</a:t>
            </a:r>
          </a:p>
          <a:p>
            <a:pPr marL="720000"/>
            <a:r>
              <a:rPr lang="zh-CN" sz="1800">
                <a:solidFill>
                  <a:srgbClr val="E8E8E8"/>
                </a:solidFill>
              </a:rPr>
              <a:t>│         │         │</a:t>
            </a:r>
          </a:p>
          <a:p>
            <a:pPr marL="720000"/>
            <a:r>
              <a:rPr lang="zh-CN" sz="1800">
                <a:solidFill>
                  <a:srgbClr val="E8E8E8"/>
                </a:solidFill>
              </a:rPr>
              <a:t>└─────────┼─────────┘</a:t>
            </a:r>
          </a:p>
          <a:p>
            <a:pPr marL="720000"/>
            <a:r>
              <a:rPr lang="zh-CN" sz="1800">
                <a:solidFill>
                  <a:srgbClr val="E8E8E8"/>
                </a:solidFill>
              </a:rPr>
              <a:t>↓</a:t>
            </a:r>
          </a:p>
          <a:p>
            <a:pPr marL="720000"/>
            <a:r>
              <a:rPr lang="zh-CN" sz="1800">
                <a:solidFill>
                  <a:srgbClr val="E8E8E8"/>
                </a:solidFill>
              </a:rPr>
              <a:t>大脑神经回路失调 + 神经炎症</a:t>
            </a:r>
          </a:p>
          <a:p>
            <a:pPr marL="720000"/>
            <a:r>
              <a:rPr lang="zh-CN" sz="1800">
                <a:solidFill>
                  <a:srgbClr val="E8E8E8"/>
                </a:solidFill>
              </a:rPr>
              <a:t>↓</a:t>
            </a:r>
          </a:p>
          <a:p>
            <a:pPr marL="720000"/>
            <a:r>
              <a:rPr lang="zh-CN" sz="1800">
                <a:solidFill>
                  <a:srgbClr val="E8E8E8"/>
                </a:solidFill>
              </a:rPr>
              <a:t>焦虑抑郁症状</a:t>
            </a:r>
          </a:p>
          <a:p>
            <a:pPr marL="720000"/>
            <a:r>
              <a:rPr lang="zh-CN" sz="1800">
                <a:solidFill>
                  <a:srgbClr val="E8E8E8"/>
                </a:solidFill>
              </a:rPr>
              <a:t>↓</a:t>
            </a:r>
          </a:p>
          <a:p>
            <a:pPr marL="720000"/>
            <a:r>
              <a:rPr lang="zh-CN" sz="1800">
                <a:solidFill>
                  <a:srgbClr val="E8E8E8"/>
                </a:solidFill>
              </a:rPr>
              <a:t>┌─────────┴─────────┐</a:t>
            </a:r>
          </a:p>
          <a:p>
            <a:pPr marL="720000"/>
            <a:r>
              <a:rPr lang="zh-CN" sz="1800">
                <a:solidFill>
                  <a:srgbClr val="E8E8E8"/>
                </a:solidFill>
              </a:rPr>
              <a:t>↓                   ↓</a:t>
            </a:r>
          </a:p>
          <a:p>
            <a:r>
              <a:rPr lang="zh-CN" sz="2000">
                <a:solidFill>
                  <a:srgbClr val="FFFFFF"/>
                </a:solidFill>
              </a:rPr>
              <a:t>害怕出门/回避社交    不敢尝试新事物</a:t>
            </a:r>
          </a:p>
          <a:p>
            <a:r>
              <a:rPr lang="zh-CN" sz="2000">
                <a:solidFill>
                  <a:srgbClr val="FFFFFF"/>
                </a:solidFill>
              </a:rPr>
              <a:t>童年创伤通过影响认知风格、人格特质，</a:t>
            </a:r>
          </a:p>
          <a:p>
            <a:r>
              <a:rPr lang="zh-CN" sz="2000">
                <a:solidFill>
                  <a:srgbClr val="FFFFFF"/>
                </a:solidFill>
              </a:rPr>
              <a:t>最终影响成年期精神病理学。</a:t>
            </a:r>
          </a:p>
        </p:txBody>
      </p:sp>
      <p:sp>
        <p:nvSpPr>
          <p:cNvPr id="7" name="Deco"/>
          <p:cNvSpPr/>
          <p:nvPr/>
        </p:nvSpPr>
        <p:spPr>
          <a:xfrm>
            <a:off x="8500000" y="6000000"/>
            <a:ext cx="500000" cy="500000"/>
          </a:xfrm>
          <a:prstGeom prst="ellipse">
            <a:avLst/>
          </a:prstGeom>
          <a:solidFill>
            <a:srgbClr val="FFD93D">
              <a:alpha val="60000"/>
            </a:srgbClr>
          </a:solidFill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1E3A5F"/>
            </a:gs>
            <a:gs pos="50000">
              <a:srgbClr val="2E5984"/>
            </a:gs>
            <a:gs pos="100000">
              <a:srgbClr val="4A90A4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eftBar"/>
          <p:cNvSpPr/>
          <p:nvPr/>
        </p:nvSpPr>
        <p:spPr>
          <a:xfrm>
            <a:off x="0" y="0"/>
            <a:ext cx="200000" cy="6858000"/>
          </a:xfrm>
          <a:prstGeom prst="rect">
            <a:avLst/>
          </a:prstGeom>
          <a:solidFill>
            <a:srgbClr val="FF6B6B"/>
          </a:solidFill>
        </p:spPr>
      </p:sp>
      <p:sp>
        <p:nvSpPr>
          <p:cNvPr id="3" name="TitleBg"/>
          <p:cNvSpPr/>
          <p:nvPr/>
        </p:nvSpPr>
        <p:spPr>
          <a:xfrm>
            <a:off x="300000" y="300000"/>
            <a:ext cx="8544000" cy="900000"/>
          </a:xfrm>
          <a:prstGeom prst="rect">
            <a:avLst/>
          </a:prstGeom>
          <a:solidFill>
            <a:srgbClr val="FFFFFF">
              <a:alpha val="15000"/>
            </a:srgbClr>
          </a:solidFill>
        </p:spPr>
      </p:sp>
      <p:sp>
        <p:nvSpPr>
          <p:cNvPr id="4" name="Title"/>
          <p:cNvSpPr txBox="1"/>
          <p:nvPr/>
        </p:nvSpPr>
        <p:spPr>
          <a:xfrm>
            <a:off x="457200" y="400000"/>
            <a:ext cx="8231800" cy="700000"/>
          </a:xfrm>
          <a:prstGeom prst="rect">
            <a:avLst/>
          </a:prstGeom>
        </p:spPr>
        <p:txBody>
          <a:bodyPr/>
          <a:lstStyle/>
          <a:p>
            <a:pPr>
              <a:defRPr sz="4000" b="1"/>
            </a:pPr>
            <a:r>
              <a:rPr lang="zh-CN" sz="4000" b="1">
                <a:solidFill>
                  <a:srgbClr val="FFFFFF"/>
                </a:solidFill>
              </a:rPr>
              <a:t>应对与预防建议</a:t>
            </a:r>
          </a:p>
        </p:txBody>
      </p:sp>
      <p:sp>
        <p:nvSpPr>
          <p:cNvPr id="5" name="ContentBg"/>
          <p:cNvSpPr/>
          <p:nvPr/>
        </p:nvSpPr>
        <p:spPr>
          <a:xfrm>
            <a:off x="457200" y="1300000"/>
            <a:ext cx="8231800" cy="5000000"/>
          </a:xfrm>
          <a:prstGeom prst="rect">
            <a:avLst/>
          </a:prstGeom>
          <a:solidFill>
            <a:srgbClr val="FFFFFF">
              <a:alpha val="10000"/>
            </a:srgbClr>
          </a:solidFill>
        </p:spPr>
      </p:sp>
      <p:sp>
        <p:nvSpPr>
          <p:cNvPr id="6" name="Content"/>
          <p:cNvSpPr txBox="1"/>
          <p:nvPr/>
        </p:nvSpPr>
        <p:spPr>
          <a:xfrm>
            <a:off x="600000" y="1400000"/>
            <a:ext cx="7800000" cy="4800000"/>
          </a:xfrm>
          <a:prstGeom prst="rect">
            <a:avLst/>
          </a:prstGeom>
        </p:spPr>
        <p:txBody>
          <a:bodyPr/>
          <a:lstStyle/>
          <a:p>
            <a:r>
              <a:rPr lang="zh-CN" sz="2000">
                <a:solidFill>
                  <a:srgbClr val="FFFFFF"/>
                </a:solidFill>
              </a:rPr>
              <a:t>觉察创伤：</a:t>
            </a:r>
          </a:p>
          <a:p>
            <a:pPr marL="360000" indent="-360000">
              <a:buChar char="●"/>
            </a:pPr>
            <a:r>
              <a:rPr lang="zh-CN" sz="2000">
                <a:solidFill>
                  <a:srgbClr val="FFFFFF"/>
                </a:solidFill>
              </a:rPr>
              <a:t>识别症状背后的童年根源</a:t>
            </a:r>
          </a:p>
          <a:p>
            <a:pPr marL="360000" indent="-360000">
              <a:buChar char="●"/>
            </a:pPr>
            <a:r>
              <a:rPr lang="zh-CN" sz="2000">
                <a:solidFill>
                  <a:srgbClr val="FFFFFF"/>
                </a:solidFill>
              </a:rPr>
              <a:t>理解"现在的恐惧来自过去的经历"</a:t>
            </a:r>
          </a:p>
          <a:p>
            <a:r>
              <a:rPr lang="zh-CN" sz="2000">
                <a:solidFill>
                  <a:srgbClr val="FFFFFF"/>
                </a:solidFill>
              </a:rPr>
              <a:t>认知重构：</a:t>
            </a:r>
          </a:p>
          <a:p>
            <a:pPr marL="360000" indent="-360000">
              <a:buChar char="●"/>
            </a:pPr>
            <a:r>
              <a:rPr lang="zh-CN" sz="2000">
                <a:solidFill>
                  <a:srgbClr val="FFFFFF"/>
                </a:solidFill>
              </a:rPr>
              <a:t>识别"我不够好"等不合理信念</a:t>
            </a:r>
          </a:p>
          <a:p>
            <a:pPr marL="360000" indent="-360000">
              <a:buChar char="●"/>
            </a:pPr>
            <a:r>
              <a:rPr lang="zh-CN" sz="2000">
                <a:solidFill>
                  <a:srgbClr val="FFFFFF"/>
                </a:solidFill>
              </a:rPr>
              <a:t>用积极思维替代灾难化思维</a:t>
            </a:r>
          </a:p>
          <a:p>
            <a:r>
              <a:rPr lang="zh-CN" sz="2000">
                <a:solidFill>
                  <a:srgbClr val="FFFFFF"/>
                </a:solidFill>
              </a:rPr>
              <a:t>逐步暴露：</a:t>
            </a:r>
          </a:p>
          <a:p>
            <a:pPr marL="360000" indent="-360000">
              <a:buChar char="●"/>
            </a:pPr>
            <a:r>
              <a:rPr lang="zh-CN" sz="2000">
                <a:solidFill>
                  <a:srgbClr val="FFFFFF"/>
                </a:solidFill>
              </a:rPr>
              <a:t>从小步骤开始面对恐惧</a:t>
            </a:r>
          </a:p>
          <a:p>
            <a:pPr marL="360000" indent="-360000">
              <a:buChar char="●"/>
            </a:pPr>
            <a:r>
              <a:rPr lang="zh-CN" sz="2000">
                <a:solidFill>
                  <a:srgbClr val="FFFFFF"/>
                </a:solidFill>
              </a:rPr>
              <a:t>建立"我可以应对"的信心</a:t>
            </a:r>
          </a:p>
          <a:p>
            <a:r>
              <a:rPr lang="zh-CN" sz="2000">
                <a:solidFill>
                  <a:srgbClr val="FFFFFF"/>
                </a:solidFill>
              </a:rPr>
              <a:t>专业帮助：</a:t>
            </a:r>
          </a:p>
          <a:p>
            <a:pPr marL="360000" indent="-360000">
              <a:buChar char="●"/>
            </a:pPr>
            <a:r>
              <a:rPr lang="zh-CN" sz="2000">
                <a:solidFill>
                  <a:srgbClr val="FFFFFF"/>
                </a:solidFill>
              </a:rPr>
              <a:t>创伤知情治疗（EMDR）</a:t>
            </a:r>
          </a:p>
          <a:p>
            <a:pPr marL="360000" indent="-360000">
              <a:buChar char="●"/>
            </a:pPr>
            <a:r>
              <a:rPr lang="zh-CN" sz="2000">
                <a:solidFill>
                  <a:srgbClr val="FFFFFF"/>
                </a:solidFill>
              </a:rPr>
              <a:t>认知行为疗法（CBT）</a:t>
            </a:r>
          </a:p>
          <a:p>
            <a:r>
              <a:rPr lang="zh-CN" sz="2000">
                <a:solidFill>
                  <a:srgbClr val="FFFFFF"/>
                </a:solidFill>
              </a:rPr>
              <a:t>重要提醒：治愈是可能的！</a:t>
            </a:r>
          </a:p>
          <a:p>
            <a:r>
              <a:rPr lang="zh-CN" sz="2000">
                <a:solidFill>
                  <a:srgbClr val="FFFFFF"/>
                </a:solidFill>
              </a:rPr>
              <a:t>理解根源是改变的第一步。</a:t>
            </a:r>
          </a:p>
        </p:txBody>
      </p:sp>
      <p:sp>
        <p:nvSpPr>
          <p:cNvPr id="7" name="Deco"/>
          <p:cNvSpPr/>
          <p:nvPr/>
        </p:nvSpPr>
        <p:spPr>
          <a:xfrm>
            <a:off x="8500000" y="6000000"/>
            <a:ext cx="500000" cy="500000"/>
          </a:xfrm>
          <a:prstGeom prst="ellipse">
            <a:avLst/>
          </a:prstGeom>
          <a:solidFill>
            <a:srgbClr val="FFD93D">
              <a:alpha val="60000"/>
            </a:srgbClr>
          </a:solidFill>
        </p:spPr>
      </p:sp>
    </p:spTree>
  </p:cSld>
  <p:clrMapOvr>
    <a:masterClrMapping/>
  </p:clrMapOvr>
</p:sld>
</file>

<file path=ppt/theme/_rels/theme1.xml.rels><?xml version="1.0" encoding="UTF-8" standalone="yes"?>
<Relationships xmlns="http://schemas.openxmlformats.org/package/2006/relationships"/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微软雅黑"/>
      </a:majorFont>
      <a:minorFont>
        <a:latin typeface="Calibri"/>
        <a:ea typeface="微软雅黑"/>
      </a:minorFont>
    </a:fontScheme>
    <a:fmtScheme name="Office">
      <a:fillStyleLst>
        <a:solidFill>
          <a:schemeClr val="phClr"/>
        </a:solidFill>
      </a:fillStyleLst>
      <a:lnStyleLst>
        <a:ln w="9525" cap="flat" cmpd="sng">
          <a:solidFill>
            <a:schemeClr val="phClr"/>
          </a:solidFill>
        </a:ln>
      </a:lnStyleLst>
      <a:effectStyleLst>
        <a:effectStyle>
          <a:effectLst/>
        </a:effectStyle>
      </a:effectStyleLst>
      <a:bgFillStyleLst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>
  <Template/>
  <TotalTime>0</TotalTime>
  <Pages>12</Pages>
  <Words>800</Words>
  <Characters>5000</Characters>
  <Application>Microsoft Office PowerPoint</Application>
  <DocSecurity>0</DocSecurity>
  <Lines>80</Lines>
  <Paragraphs>30</Paragraphs>
  <ScaleCrop>false</ScaleCrop>
  <Company/>
  <LinksUpToDate>false</LinksUpToDate>
  <CharactersWithSpaces>5500</CharactersWithSpaces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焦虑抑郁的产生及原因</dc:title>
  <dc:subject>心理学与神经科学科普 - 含原生家庭因素</dc:subject>
  <dc:creator>Kimi Claw</dc:creator>
  <cp:lastModifiedBy>Kimi Claw</cp:lastModifiedBy>
  <cp:revision>3</cp:revision>
  <dcterms:created xsi:type="dcterms:W3CDTF">2026-03-15T10:42:08Z</dcterms:created>
  <dcterms:modified xsi:type="dcterms:W3CDTF">2026-03-15T10:42:08Z</dcterms:modified>
</cp:coreProperties>
</file>